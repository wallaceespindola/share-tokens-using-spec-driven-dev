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Wallace. I'm going to present a proposal: a lightweight process for teams where AI coding assistance is unevenly distributed. There are no results in this talk, only the process and the reasoning behind it.</a:t>
            </a:r>
          </a:p>
          <a:p>
            <a:r>
              <a:t>The short version: people with spare GitHub Copilot capacity implement tasks that colleagues without it have specified. The handoff is a Markdown spec in the repository. Nobody shares accounts or moves credits around.</a:t>
            </a:r>
          </a:p>
          <a:p>
            <a:r>
              <a:t>Everything I show is in a public repo with the PRD, a sample task and a sample design doc. Link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teams get Copilot through a company agreement with Microsoft or GitHub. Copilot now bills in GitHub AI Credits. On Business and Enterprise plans, the credits each license brings are pooled for the organization, and admins can set budgets per user, per cost center or for the whole enterprise. In practice each developer ends up working against a personal limit for the billing period.</a:t>
            </a:r>
          </a:p>
          <a:p>
            <a:r>
              <a:t>Usage is uneven. Some people hit their limit early in the period, others finish it with credits to spare. Because the limit belongs to one user, those spare credits can't help the colleague who ran out. And some developers have no license yet.</a:t>
            </a:r>
          </a:p>
          <a:p>
            <a:r>
              <a:t>If your organization pools credits with no per-user caps, the credit argument is weaker, but the case for developers without a license still holds. Check your own plan and settings.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picture is illustrative, not measured data from any team. Each bar is one developer's personal limit for the period. Some are used up, some are mostly empty, one developer has no license.</a:t>
            </a:r>
          </a:p>
          <a:p>
            <a:r>
              <a:t>Unused credits are capacity the company has already paid for. If work can move to the people who still have credits, the team gets more out of the contract it already has, without extra seats or extra credits.</a:t>
            </a:r>
          </a:p>
          <a:p>
            <a:r>
              <a:t>The rest of the talk is about how to move the work safely.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already do this informally. Someone pings a colleague and asks them to "just Copilot it".</a:t>
            </a:r>
          </a:p>
          <a:p>
            <a:r>
              <a:t>It can work once. Then the context is missing, the delegate spends their own credits asking questions, and when it is done nothing is written down, so the next request starts from zero.</a:t>
            </a:r>
          </a:p>
          <a:p>
            <a:r>
              <a:t>So the question is how to make the handoff cheap, explicit and repeatable.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Licenses stay personal and nobody logs into someone else's account. What moves is a piece of work, the same way you would hand a ticket to a colleague.</a:t>
            </a:r>
          </a:p>
          <a:p>
            <a:r>
              <a:t>And the handoff medium is a file in the repo, which a human or an AI can read equally well.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a good spec and validating the result are human work. They cost zero credits. Implementation is where Copilot helps most.</a:t>
            </a:r>
          </a:p>
          <a:p>
            <a:r>
              <a:t>So the owner keeps the parts that need judgement and context, and the delegate spends credits only on the part that benefits most from AI.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process is spec-driven development, the GitHub Spec Kit flow, with the steps split across people.</a:t>
            </a:r>
          </a:p>
          <a:p>
            <a:r>
              <a:t>In Spec Kit you write the constitution once, then for each feature you run specify, plan, tasks, implement and converge.</a:t>
            </a:r>
          </a:p>
          <a:p>
            <a:r>
              <a:t>Here the constitution is the team's standards in /docs. Specify is the business requirements, written up by the owner. Plan and tasks end up as the approved task file. Implement is the delegate's Copilot session, and converge is the owner's validation loop.</a:t>
            </a:r>
          </a:p>
          <a:p>
            <a:r>
              <a:t>Spec Kit supports Copilot directly: install the specify CLI with uv and run specify init with the Copilot integration. You can also follow the same flow by hand with plain Markdown files, which is what the sample repo does.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roles. One person can hold different roles on different tasks: today's owner can be next sprint's delegate.</a:t>
            </a:r>
          </a:p>
          <a:p>
            <a:r>
              <a:t>Note the reviewer's position: before any credits are spent. A bad spec caught in review costs nothing. A bad spec caught after implementation costs the delegate's credits and everyone's time.</a:t>
            </a:r>
          </a:p>
          <a:p>
            <a:r>
              <a:t>And ownership never moves. The owner commits and opens the PR.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stages.</a:t>
            </a:r>
          </a:p>
          <a:p>
            <a:r>
              <a:t>Prepare: business requirements, the owner writes the task file and opens an issue, the reviewer checks it against the definition of ready. No credits spent yet.</a:t>
            </a:r>
          </a:p>
          <a:p>
            <a:r>
              <a:t>Implement: the delegate opens a fresh Copilot session with the task file, plans, implements, runs the full test suite, fills in implementation notes.</a:t>
            </a:r>
          </a:p>
          <a:p>
            <a:r>
              <a:t>Validate and deliver: the owner validates, fixes small issues, commits and opens the PR. CI/CD runs as usual. If something bigger is wrong, the owner updates the task file and it goes back to the delegate.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flow, seen as messages. Two things to notice.</a:t>
            </a:r>
          </a:p>
          <a:p>
            <a:r>
              <a:t>First, everything that matters goes through the repository: the task file, the branch, the PR. Chat is for coordination only.</a:t>
            </a:r>
          </a:p>
          <a:p>
            <a:r>
              <a:t>Second, the owner is at both ends. They start the task and they finish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sample task from the repo, trimmed for the slide. The full version also lists the tech stack, inputs, architecture constraints and references to ARCHITECTURE.md, TESTING_GUIDE.md and a design doc.</a:t>
            </a:r>
          </a:p>
          <a:p>
            <a:r>
              <a:t>The steps are concrete and the criteria can be checked. The out of scope list stops Copilot from wandering into work nobody asked for.</a:t>
            </a:r>
          </a:p>
          <a:p>
            <a:r>
              <a:t>The implementation notes section is how knowledge comes back from the delegate.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delegate's credits are wasted when Copilot has to guess. This checklist is what stops that.</a:t>
            </a:r>
          </a:p>
          <a:p>
            <a:r>
              <a:t>The size rule is a rule of thumb: if one person can't review the PR in under an hour, split the task.</a:t>
            </a:r>
          </a:p>
          <a:p>
            <a:r>
              <a:t>The reviewer can be another developer. It doesn't need to be an architect every time, but it does need to be someone who did not write the task.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a task, a review, a handoff and a validation all take time. For a one-line fix, that overhead is bigger than the work.</a:t>
            </a:r>
          </a:p>
          <a:p>
            <a:r>
              <a:t>Delegate the big, well-defined chunks. Keep the small, the urgent and the fuzzy.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conventions are deliberately plain: a predictable file name, a label and the issue board.</a:t>
            </a:r>
          </a:p>
          <a:p>
            <a:r>
              <a:t>With the capacity note, delegates say up front how much they can take, so owners know who to ask. The "2 tasks" is an example of what someone might write, not a target.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delegate's credits are the scarce resource, so each session should get as far as possible with as few requests as possible.</a:t>
            </a:r>
          </a:p>
          <a:p>
            <a:r>
              <a:t>On models: per-model credit rates change, so check the current Copilot docs rather than trusting a number on a slide.</a:t>
            </a:r>
          </a:p>
          <a:p>
            <a:r>
              <a:t>These tips also help owners make their own limited allowance last.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instructions hold the stack, conventions and links to ARCHITECTURE.md, CODING_GUIDE.md and TESTING_GUIDE.md. They are loaded into every Copilot request.</a:t>
            </a:r>
          </a:p>
          <a:p>
            <a:r>
              <a:t>The implement-task prompt reads a task file, plans, implements, runs the tests and fills in the implementation notes.</a:t>
            </a:r>
          </a:p>
          <a:p>
            <a:r>
              <a:t>A custom agent can act as a reviewer that checks the definition of ready before a human looks at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public. Spec Kit is the spec-driven development toolkit this process is based on. Its commands produce and consume the same kind of Markdown specs as our task files.</a:t>
            </a:r>
          </a:p>
          <a:p>
            <a:r>
              <a:t>Copilot coding agent: the delegate can assign the issue to Copilot, which opens a draft PR in the background. The credits are charged to the delegate. The owner validates the draft PR as usual.</a:t>
            </a:r>
          </a:p>
          <a:p>
            <a:r>
              <a:t>From the skill collections, pick what fits your stack and copy it into the repo. Don't install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 security and management to ask about this, so it gets its own slide.</a:t>
            </a:r>
          </a:p>
          <a:p>
            <a:r>
              <a:t>Nothing in this process changes who can see what, and nothing bypasses the pipeline. If your policy forbids something, this process doesn't make it allowed.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not going to show numbers, because this is a proposal and I don't have results to share yet. These are the measures I'd track from the first sprint.</a:t>
            </a:r>
          </a:p>
          <a:p>
            <a:r>
              <a:t>Iterations per task is the most useful early signal. If tasks keep bouncing back, fix the definition of ready, not the delegates.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main suggestion: put a definition of ready in front of your Copilot credits.</a:t>
            </a:r>
          </a:p>
          <a:p>
            <a:r>
              <a:t>Even teams where everyone has a license can use this. Clear task files make any AI session cheaper and any human handoff easier.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 has the full PRD, including the 13-step process, the task template and the recommended tools, plus TASK-042 and its design doc as a worked example.</a:t>
            </a:r>
          </a:p>
          <a:p>
            <a:r>
              <a:t>Feedback welcome, especially if you try this with your team. Thanks.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914400" y="914400"/>
            <a:ext cx="10332720" cy="1188720"/>
          </a:xfrm>
          <a:prstGeom prst="rect">
            <a:avLst/>
          </a:prstGeom>
          <a:noFill/>
        </p:spPr>
        <p:txBody>
          <a:bodyPr wrap="square" lIns="45720" rIns="45720" anchor="b">
            <a:spAutoFit/>
          </a:bodyPr>
          <a:lstStyle/>
          <a:p>
            <a:pPr algn="l">
              <a:spcAft>
                <a:spcPts val="600"/>
              </a:spcAft>
            </a:pPr>
            <a:r>
              <a:rPr sz="4400" b="1" i="0">
                <a:solidFill>
                  <a:srgbClr val="4ECDC4"/>
                </a:solidFill>
                <a:latin typeface="Arial"/>
              </a:rPr>
              <a:t>Share Copilot Capacity, Not Accounts</a:t>
            </a:r>
          </a:p>
        </p:txBody>
      </p:sp>
      <p:sp>
        <p:nvSpPr>
          <p:cNvPr id="3" name="Rectangle 2"/>
          <p:cNvSpPr/>
          <p:nvPr/>
        </p:nvSpPr>
        <p:spPr>
          <a:xfrm>
            <a:off x="914400" y="2240280"/>
            <a:ext cx="2011680" cy="64008"/>
          </a:xfrm>
          <a:prstGeom prst="rect">
            <a:avLst/>
          </a:prstGeom>
          <a:solidFill>
            <a:srgbClr val="4EC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14600"/>
            <a:ext cx="10332720" cy="914400"/>
          </a:xfrm>
          <a:prstGeom prst="rect">
            <a:avLst/>
          </a:prstGeom>
          <a:noFill/>
        </p:spPr>
        <p:txBody>
          <a:bodyPr wrap="square" lIns="45720" rIns="45720" anchor="t">
            <a:spAutoFit/>
          </a:bodyPr>
          <a:lstStyle/>
          <a:p>
            <a:pPr algn="l">
              <a:spcAft>
                <a:spcPts val="600"/>
              </a:spcAft>
            </a:pPr>
            <a:r>
              <a:rPr sz="2800" b="1" i="0">
                <a:solidFill>
                  <a:srgbClr val="FFFFFF"/>
                </a:solidFill>
                <a:latin typeface="Arial"/>
              </a:rPr>
              <a:t>Spec-driven delegation for teams with uneven AI budgets</a:t>
            </a:r>
          </a:p>
        </p:txBody>
      </p:sp>
      <p:sp>
        <p:nvSpPr>
          <p:cNvPr id="5" name="TextBox 4"/>
          <p:cNvSpPr txBox="1"/>
          <p:nvPr/>
        </p:nvSpPr>
        <p:spPr>
          <a:xfrm>
            <a:off x="914400" y="3520440"/>
            <a:ext cx="10332720" cy="2880360"/>
          </a:xfrm>
          <a:prstGeom prst="rect">
            <a:avLst/>
          </a:prstGeom>
          <a:noFill/>
        </p:spPr>
        <p:txBody>
          <a:bodyPr wrap="square" lIns="45720" rIns="45720" anchor="t">
            <a:spAutoFit/>
          </a:bodyPr>
          <a:lstStyle/>
          <a:p>
            <a:pPr>
              <a:spcAft>
                <a:spcPts val="400"/>
              </a:spcAft>
            </a:pPr>
            <a:r>
              <a:rPr sz="2200" b="1" i="0">
                <a:solidFill>
                  <a:srgbClr val="FFFFFF"/>
                </a:solidFill>
                <a:latin typeface="Arial"/>
              </a:rPr>
              <a:t>Wallace Espindola</a:t>
            </a:r>
          </a:p>
          <a:p>
            <a:pPr>
              <a:spcAft>
                <a:spcPts val="400"/>
              </a:spcAft>
            </a:pPr>
            <a:r>
              <a:rPr sz="1800" b="0" i="0">
                <a:solidFill>
                  <a:srgbClr val="FFFFFF"/>
                </a:solidFill>
                <a:latin typeface="Arial"/>
              </a:rPr>
              <a:t>Sr. Software Engineer / Solution Architect</a:t>
            </a:r>
          </a:p>
          <a:p>
            <a:pPr>
              <a:spcAft>
                <a:spcPts val="400"/>
              </a:spcAft>
            </a:pPr>
          </a:p>
          <a:p>
            <a:pPr>
              <a:spcAft>
                <a:spcPts val="400"/>
              </a:spcAft>
            </a:pPr>
            <a:r>
              <a:rPr sz="1800" b="0" i="0">
                <a:solidFill>
                  <a:srgbClr val="4ECDC4"/>
                </a:solidFill>
                <a:latin typeface="Arial"/>
              </a:rPr>
              <a:t>wallace.espindola@gmail.com</a:t>
            </a:r>
          </a:p>
          <a:p>
            <a:pPr>
              <a:spcAft>
                <a:spcPts val="400"/>
              </a:spcAft>
            </a:pPr>
            <a:r>
              <a:rPr sz="1800" b="0" i="0">
                <a:solidFill>
                  <a:srgbClr val="FFFFFF"/>
                </a:solidFill>
                <a:latin typeface="Arial"/>
              </a:rPr>
              <a:t>linkedin.com/in/wallaceespindola  |  github.com/wallaceespindola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The problem: one contract, uneven use</a:t>
            </a:r>
          </a:p>
        </p:txBody>
      </p:sp>
      <p:sp>
        <p:nvSpPr>
          <p:cNvPr id="3" name="Oval 2"/>
          <p:cNvSpPr/>
          <p:nvPr/>
        </p:nvSpPr>
        <p:spPr>
          <a:xfrm>
            <a:off x="731520" y="1463040"/>
            <a:ext cx="685800" cy="6858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463040"/>
            <a:ext cx="685800" cy="685800"/>
          </a:xfrm>
          <a:prstGeom prst="rect">
            <a:avLst/>
          </a:prstGeom>
          <a:noFill/>
        </p:spPr>
        <p:txBody>
          <a:bodyPr wrap="square" lIns="45720" rIns="45720" anchor="ctr">
            <a:spAutoFit/>
          </a:bodyPr>
          <a:lstStyle/>
          <a:p>
            <a:pPr algn="ctr">
              <a:spcAft>
                <a:spcPts val="600"/>
              </a:spcAft>
            </a:pPr>
            <a:r>
              <a:rPr sz="2200" b="1" i="0">
                <a:solidFill>
                  <a:srgbClr val="FFFFFF"/>
                </a:solidFill>
                <a:latin typeface="Arial"/>
              </a:rPr>
              <a:t>1</a:t>
            </a:r>
          </a:p>
        </p:txBody>
      </p:sp>
      <p:sp>
        <p:nvSpPr>
          <p:cNvPr id="5" name="TextBox 4"/>
          <p:cNvSpPr txBox="1"/>
          <p:nvPr/>
        </p:nvSpPr>
        <p:spPr>
          <a:xfrm>
            <a:off x="1691640" y="1417320"/>
            <a:ext cx="9601200" cy="411480"/>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Company contract</a:t>
            </a:r>
          </a:p>
        </p:txBody>
      </p:sp>
      <p:sp>
        <p:nvSpPr>
          <p:cNvPr id="6" name="TextBox 5"/>
          <p:cNvSpPr txBox="1"/>
          <p:nvPr/>
        </p:nvSpPr>
        <p:spPr>
          <a:xfrm>
            <a:off x="1691640" y="1810512"/>
            <a:ext cx="9601200" cy="411480"/>
          </a:xfrm>
          <a:prstGeom prst="rect">
            <a:avLst/>
          </a:prstGeom>
          <a:noFill/>
        </p:spPr>
        <p:txBody>
          <a:bodyPr wrap="square" lIns="45720" rIns="45720" anchor="t">
            <a:spAutoFit/>
          </a:bodyPr>
          <a:lstStyle/>
          <a:p>
            <a:pPr algn="l">
              <a:spcAft>
                <a:spcPts val="600"/>
              </a:spcAft>
            </a:pPr>
            <a:r>
              <a:rPr sz="1700" b="0" i="0">
                <a:solidFill>
                  <a:srgbClr val="1A2744"/>
                </a:solidFill>
                <a:latin typeface="Arial"/>
              </a:rPr>
              <a:t>Copilot usually comes through a company contract with Microsoft/GitHub.</a:t>
            </a:r>
          </a:p>
        </p:txBody>
      </p:sp>
      <p:sp>
        <p:nvSpPr>
          <p:cNvPr id="7" name="Oval 6"/>
          <p:cNvSpPr/>
          <p:nvPr/>
        </p:nvSpPr>
        <p:spPr>
          <a:xfrm>
            <a:off x="731520" y="2450592"/>
            <a:ext cx="685800" cy="6858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2450592"/>
            <a:ext cx="685800" cy="685800"/>
          </a:xfrm>
          <a:prstGeom prst="rect">
            <a:avLst/>
          </a:prstGeom>
          <a:noFill/>
        </p:spPr>
        <p:txBody>
          <a:bodyPr wrap="square" lIns="45720" rIns="45720" anchor="ctr">
            <a:spAutoFit/>
          </a:bodyPr>
          <a:lstStyle/>
          <a:p>
            <a:pPr algn="ctr">
              <a:spcAft>
                <a:spcPts val="600"/>
              </a:spcAft>
            </a:pPr>
            <a:r>
              <a:rPr sz="2200" b="1" i="0">
                <a:solidFill>
                  <a:srgbClr val="FFFFFF"/>
                </a:solidFill>
                <a:latin typeface="Arial"/>
              </a:rPr>
              <a:t>2</a:t>
            </a:r>
          </a:p>
        </p:txBody>
      </p:sp>
      <p:sp>
        <p:nvSpPr>
          <p:cNvPr id="9" name="TextBox 8"/>
          <p:cNvSpPr txBox="1"/>
          <p:nvPr/>
        </p:nvSpPr>
        <p:spPr>
          <a:xfrm>
            <a:off x="1691640" y="2404872"/>
            <a:ext cx="9601200" cy="411480"/>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Personal limit</a:t>
            </a:r>
          </a:p>
        </p:txBody>
      </p:sp>
      <p:sp>
        <p:nvSpPr>
          <p:cNvPr id="10" name="TextBox 9"/>
          <p:cNvSpPr txBox="1"/>
          <p:nvPr/>
        </p:nvSpPr>
        <p:spPr>
          <a:xfrm>
            <a:off x="1691640" y="2798064"/>
            <a:ext cx="9601200" cy="411480"/>
          </a:xfrm>
          <a:prstGeom prst="rect">
            <a:avLst/>
          </a:prstGeom>
          <a:noFill/>
        </p:spPr>
        <p:txBody>
          <a:bodyPr wrap="square" lIns="45720" rIns="45720" anchor="t">
            <a:spAutoFit/>
          </a:bodyPr>
          <a:lstStyle/>
          <a:p>
            <a:pPr algn="l">
              <a:spcAft>
                <a:spcPts val="600"/>
              </a:spcAft>
            </a:pPr>
            <a:r>
              <a:rPr sz="1700" b="0" i="0">
                <a:solidFill>
                  <a:srgbClr val="1A2744"/>
                </a:solidFill>
                <a:latin typeface="Arial"/>
              </a:rPr>
              <a:t>Each developer has a personal limit per period: an allowance, or a budget admins set on the pool.</a:t>
            </a:r>
          </a:p>
        </p:txBody>
      </p:sp>
      <p:sp>
        <p:nvSpPr>
          <p:cNvPr id="11" name="Oval 10"/>
          <p:cNvSpPr/>
          <p:nvPr/>
        </p:nvSpPr>
        <p:spPr>
          <a:xfrm>
            <a:off x="731520" y="3438144"/>
            <a:ext cx="685800" cy="6858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3438144"/>
            <a:ext cx="685800" cy="685800"/>
          </a:xfrm>
          <a:prstGeom prst="rect">
            <a:avLst/>
          </a:prstGeom>
          <a:noFill/>
        </p:spPr>
        <p:txBody>
          <a:bodyPr wrap="square" lIns="45720" rIns="45720" anchor="ctr">
            <a:spAutoFit/>
          </a:bodyPr>
          <a:lstStyle/>
          <a:p>
            <a:pPr algn="ctr">
              <a:spcAft>
                <a:spcPts val="600"/>
              </a:spcAft>
            </a:pPr>
            <a:r>
              <a:rPr sz="2200" b="1" i="0">
                <a:solidFill>
                  <a:srgbClr val="FFFFFF"/>
                </a:solidFill>
                <a:latin typeface="Arial"/>
              </a:rPr>
              <a:t>3</a:t>
            </a:r>
          </a:p>
        </p:txBody>
      </p:sp>
      <p:sp>
        <p:nvSpPr>
          <p:cNvPr id="13" name="TextBox 12"/>
          <p:cNvSpPr txBox="1"/>
          <p:nvPr/>
        </p:nvSpPr>
        <p:spPr>
          <a:xfrm>
            <a:off x="1691640" y="3392424"/>
            <a:ext cx="9601200" cy="411480"/>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Uneven use</a:t>
            </a:r>
          </a:p>
        </p:txBody>
      </p:sp>
      <p:sp>
        <p:nvSpPr>
          <p:cNvPr id="14" name="TextBox 13"/>
          <p:cNvSpPr txBox="1"/>
          <p:nvPr/>
        </p:nvSpPr>
        <p:spPr>
          <a:xfrm>
            <a:off x="1691640" y="3785616"/>
            <a:ext cx="9601200" cy="411480"/>
          </a:xfrm>
          <a:prstGeom prst="rect">
            <a:avLst/>
          </a:prstGeom>
          <a:noFill/>
        </p:spPr>
        <p:txBody>
          <a:bodyPr wrap="square" lIns="45720" rIns="45720" anchor="t">
            <a:spAutoFit/>
          </a:bodyPr>
          <a:lstStyle/>
          <a:p>
            <a:pPr algn="l">
              <a:spcAft>
                <a:spcPts val="600"/>
              </a:spcAft>
            </a:pPr>
            <a:r>
              <a:rPr sz="1700" b="0" i="0">
                <a:solidFill>
                  <a:srgbClr val="1A2744"/>
                </a:solidFill>
                <a:latin typeface="Arial"/>
              </a:rPr>
              <a:t>Some hit their limit early. Others end the period with credits left.</a:t>
            </a:r>
          </a:p>
        </p:txBody>
      </p:sp>
      <p:sp>
        <p:nvSpPr>
          <p:cNvPr id="15" name="Oval 14"/>
          <p:cNvSpPr/>
          <p:nvPr/>
        </p:nvSpPr>
        <p:spPr>
          <a:xfrm>
            <a:off x="731520" y="4425696"/>
            <a:ext cx="685800" cy="6858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4425696"/>
            <a:ext cx="685800" cy="685800"/>
          </a:xfrm>
          <a:prstGeom prst="rect">
            <a:avLst/>
          </a:prstGeom>
          <a:noFill/>
        </p:spPr>
        <p:txBody>
          <a:bodyPr wrap="square" lIns="45720" rIns="45720" anchor="ctr">
            <a:spAutoFit/>
          </a:bodyPr>
          <a:lstStyle/>
          <a:p>
            <a:pPr algn="ctr">
              <a:spcAft>
                <a:spcPts val="600"/>
              </a:spcAft>
            </a:pPr>
            <a:r>
              <a:rPr sz="2200" b="1" i="0">
                <a:solidFill>
                  <a:srgbClr val="FFFFFF"/>
                </a:solidFill>
                <a:latin typeface="Arial"/>
              </a:rPr>
              <a:t>4</a:t>
            </a:r>
          </a:p>
        </p:txBody>
      </p:sp>
      <p:sp>
        <p:nvSpPr>
          <p:cNvPr id="17" name="TextBox 16"/>
          <p:cNvSpPr txBox="1"/>
          <p:nvPr/>
        </p:nvSpPr>
        <p:spPr>
          <a:xfrm>
            <a:off x="1691640" y="4379976"/>
            <a:ext cx="9601200" cy="411480"/>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Limits are per user</a:t>
            </a:r>
          </a:p>
        </p:txBody>
      </p:sp>
      <p:sp>
        <p:nvSpPr>
          <p:cNvPr id="18" name="TextBox 17"/>
          <p:cNvSpPr txBox="1"/>
          <p:nvPr/>
        </p:nvSpPr>
        <p:spPr>
          <a:xfrm>
            <a:off x="1691640" y="4773168"/>
            <a:ext cx="9601200" cy="411480"/>
          </a:xfrm>
          <a:prstGeom prst="rect">
            <a:avLst/>
          </a:prstGeom>
          <a:noFill/>
        </p:spPr>
        <p:txBody>
          <a:bodyPr wrap="square" lIns="45720" rIns="45720" anchor="t">
            <a:spAutoFit/>
          </a:bodyPr>
          <a:lstStyle/>
          <a:p>
            <a:pPr algn="l">
              <a:spcAft>
                <a:spcPts val="600"/>
              </a:spcAft>
            </a:pPr>
            <a:r>
              <a:rPr sz="1700" b="0" i="0">
                <a:solidFill>
                  <a:srgbClr val="1A2744"/>
                </a:solidFill>
                <a:latin typeface="Arial"/>
              </a:rPr>
              <a:t>Leftover credits do nothing for a colleague who ran out.</a:t>
            </a:r>
          </a:p>
        </p:txBody>
      </p:sp>
      <p:sp>
        <p:nvSpPr>
          <p:cNvPr id="19" name="Oval 18"/>
          <p:cNvSpPr/>
          <p:nvPr/>
        </p:nvSpPr>
        <p:spPr>
          <a:xfrm>
            <a:off x="731520" y="5413248"/>
            <a:ext cx="685800" cy="6858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1520" y="5413248"/>
            <a:ext cx="685800" cy="685800"/>
          </a:xfrm>
          <a:prstGeom prst="rect">
            <a:avLst/>
          </a:prstGeom>
          <a:noFill/>
        </p:spPr>
        <p:txBody>
          <a:bodyPr wrap="square" lIns="45720" rIns="45720" anchor="ctr">
            <a:spAutoFit/>
          </a:bodyPr>
          <a:lstStyle/>
          <a:p>
            <a:pPr algn="ctr">
              <a:spcAft>
                <a:spcPts val="600"/>
              </a:spcAft>
            </a:pPr>
            <a:r>
              <a:rPr sz="2200" b="1" i="0">
                <a:solidFill>
                  <a:srgbClr val="FFFFFF"/>
                </a:solidFill>
                <a:latin typeface="Arial"/>
              </a:rPr>
              <a:t>5</a:t>
            </a:r>
          </a:p>
        </p:txBody>
      </p:sp>
      <p:sp>
        <p:nvSpPr>
          <p:cNvPr id="21" name="TextBox 20"/>
          <p:cNvSpPr txBox="1"/>
          <p:nvPr/>
        </p:nvSpPr>
        <p:spPr>
          <a:xfrm>
            <a:off x="1691640" y="5367528"/>
            <a:ext cx="9601200" cy="411480"/>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No license at all</a:t>
            </a:r>
          </a:p>
        </p:txBody>
      </p:sp>
      <p:sp>
        <p:nvSpPr>
          <p:cNvPr id="22" name="TextBox 21"/>
          <p:cNvSpPr txBox="1"/>
          <p:nvPr/>
        </p:nvSpPr>
        <p:spPr>
          <a:xfrm>
            <a:off x="1691640" y="5760720"/>
            <a:ext cx="9601200" cy="411480"/>
          </a:xfrm>
          <a:prstGeom prst="rect">
            <a:avLst/>
          </a:prstGeom>
          <a:noFill/>
        </p:spPr>
        <p:txBody>
          <a:bodyPr wrap="square" lIns="45720" rIns="45720" anchor="t">
            <a:spAutoFit/>
          </a:bodyPr>
          <a:lstStyle/>
          <a:p>
            <a:pPr algn="l">
              <a:spcAft>
                <a:spcPts val="600"/>
              </a:spcAft>
            </a:pPr>
            <a:r>
              <a:rPr sz="1700" b="0" i="0">
                <a:solidFill>
                  <a:srgbClr val="1A2744"/>
                </a:solidFill>
                <a:latin typeface="Arial"/>
              </a:rPr>
              <a:t>Some developers have no Copilot license.</a:t>
            </a:r>
          </a:p>
        </p:txBody>
      </p:sp>
      <p:sp>
        <p:nvSpPr>
          <p:cNvPr id="23" name="TextBox 22"/>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Credits the company already paid for</a:t>
            </a:r>
          </a:p>
        </p:txBody>
      </p:sp>
      <p:pic>
        <p:nvPicPr>
          <p:cNvPr id="3" name="Picture 2" descr="credit-usage.png"/>
          <p:cNvPicPr>
            <a:picLocks noChangeAspect="1"/>
          </p:cNvPicPr>
          <p:nvPr/>
        </p:nvPicPr>
        <p:blipFill>
          <a:blip r:embed="rId2"/>
          <a:stretch>
            <a:fillRect/>
          </a:stretch>
        </p:blipFill>
        <p:spPr>
          <a:xfrm>
            <a:off x="1533474" y="1325880"/>
            <a:ext cx="9094572" cy="4206240"/>
          </a:xfrm>
          <a:prstGeom prst="rect">
            <a:avLst/>
          </a:prstGeom>
        </p:spPr>
      </p:pic>
      <p:sp>
        <p:nvSpPr>
          <p:cNvPr id="4" name="TextBox 3"/>
          <p:cNvSpPr txBox="1"/>
          <p:nvPr/>
        </p:nvSpPr>
        <p:spPr>
          <a:xfrm>
            <a:off x="822960" y="5669280"/>
            <a:ext cx="10515600" cy="731520"/>
          </a:xfrm>
          <a:prstGeom prst="rect">
            <a:avLst/>
          </a:prstGeom>
          <a:noFill/>
        </p:spPr>
        <p:txBody>
          <a:bodyPr wrap="square" lIns="45720" rIns="45720" anchor="t">
            <a:spAutoFit/>
          </a:bodyPr>
          <a:lstStyle/>
          <a:p>
            <a:pPr algn="ctr">
              <a:spcAft>
                <a:spcPts val="600"/>
              </a:spcAft>
            </a:pPr>
            <a:r>
              <a:rPr sz="2000" b="0" i="0">
                <a:solidFill>
                  <a:srgbClr val="0D1B3E"/>
                </a:solidFill>
                <a:latin typeface="Arial"/>
              </a:rPr>
              <a:t>Routing work to people who still have credits gets more value from </a:t>
            </a:r>
            <a:r>
              <a:rPr sz="2000" b="1" i="0">
                <a:solidFill>
                  <a:srgbClr val="0D1B3E"/>
                </a:solidFill>
                <a:latin typeface="Arial"/>
              </a:rPr>
              <a:t>the same contract</a:t>
            </a:r>
            <a:r>
              <a:rPr sz="2000" b="0" i="0">
                <a:solidFill>
                  <a:srgbClr val="0D1B3E"/>
                </a:solidFill>
                <a:latin typeface="Arial"/>
              </a:rPr>
              <a:t>, without buying extra seats.</a:t>
            </a:r>
          </a:p>
        </p:txBody>
      </p:sp>
      <p:sp>
        <p:nvSpPr>
          <p:cNvPr id="5" name="TextBox 4"/>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"Can you run this through Copilot for me?"</a:t>
            </a:r>
          </a:p>
        </p:txBody>
      </p:sp>
      <p:sp>
        <p:nvSpPr>
          <p:cNvPr id="3" name="TextBox 2"/>
          <p:cNvSpPr txBox="1"/>
          <p:nvPr/>
        </p:nvSpPr>
        <p:spPr>
          <a:xfrm>
            <a:off x="640080" y="1280160"/>
            <a:ext cx="10881360" cy="457200"/>
          </a:xfrm>
          <a:prstGeom prst="rect">
            <a:avLst/>
          </a:prstGeom>
          <a:noFill/>
        </p:spPr>
        <p:txBody>
          <a:bodyPr wrap="square" lIns="45720" rIns="45720" anchor="t">
            <a:spAutoFit/>
          </a:bodyPr>
          <a:lstStyle/>
          <a:p>
            <a:pPr algn="l">
              <a:spcAft>
                <a:spcPts val="600"/>
              </a:spcAft>
            </a:pPr>
            <a:r>
              <a:rPr sz="2000" b="0" i="0">
                <a:solidFill>
                  <a:srgbClr val="6B7A90"/>
                </a:solidFill>
                <a:latin typeface="Arial"/>
              </a:rPr>
              <a:t>The informal version does not scale:</a:t>
            </a:r>
          </a:p>
        </p:txBody>
      </p:sp>
      <p:sp>
        <p:nvSpPr>
          <p:cNvPr id="4" name="Rounded Rectangle 3"/>
          <p:cNvSpPr/>
          <p:nvPr/>
        </p:nvSpPr>
        <p:spPr>
          <a:xfrm>
            <a:off x="640080" y="2103120"/>
            <a:ext cx="2057400" cy="237744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267712"/>
            <a:ext cx="1600200" cy="777240"/>
          </a:xfrm>
          <a:prstGeom prst="rect">
            <a:avLst/>
          </a:prstGeom>
          <a:noFill/>
        </p:spPr>
        <p:txBody>
          <a:bodyPr wrap="square" lIns="45720" rIns="45720" anchor="t">
            <a:spAutoFit/>
          </a:bodyPr>
          <a:lstStyle/>
          <a:p>
            <a:pPr algn="l">
              <a:spcAft>
                <a:spcPts val="600"/>
              </a:spcAft>
            </a:pPr>
            <a:r>
              <a:rPr sz="1800" b="1" i="0">
                <a:solidFill>
                  <a:srgbClr val="0D1B3E"/>
                </a:solidFill>
                <a:latin typeface="Arial"/>
              </a:rPr>
              <a:t>Chat message</a:t>
            </a:r>
          </a:p>
        </p:txBody>
      </p:sp>
      <p:sp>
        <p:nvSpPr>
          <p:cNvPr id="6" name="TextBox 5"/>
          <p:cNvSpPr txBox="1"/>
          <p:nvPr/>
        </p:nvSpPr>
        <p:spPr>
          <a:xfrm>
            <a:off x="868680" y="3063240"/>
            <a:ext cx="1600200" cy="1325880"/>
          </a:xfrm>
          <a:prstGeom prst="rect">
            <a:avLst/>
          </a:prstGeom>
          <a:noFill/>
        </p:spPr>
        <p:txBody>
          <a:bodyPr wrap="square" lIns="45720" rIns="45720" anchor="t">
            <a:spAutoFit/>
          </a:bodyPr>
          <a:lstStyle/>
          <a:p>
            <a:pPr algn="l">
              <a:spcAft>
                <a:spcPts val="400"/>
              </a:spcAft>
            </a:pPr>
            <a:r>
              <a:rPr sz="1600" b="0" i="0">
                <a:solidFill>
                  <a:srgbClr val="1A2744"/>
                </a:solidFill>
                <a:latin typeface="Arial"/>
              </a:rPr>
              <a:t>The request lives in a chat thread</a:t>
            </a:r>
          </a:p>
        </p:txBody>
      </p:sp>
      <p:sp>
        <p:nvSpPr>
          <p:cNvPr id="7" name="Rounded Rectangle 6"/>
          <p:cNvSpPr/>
          <p:nvPr/>
        </p:nvSpPr>
        <p:spPr>
          <a:xfrm>
            <a:off x="2843784" y="2103120"/>
            <a:ext cx="2057400" cy="237744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72384" y="2267712"/>
            <a:ext cx="1600200" cy="777240"/>
          </a:xfrm>
          <a:prstGeom prst="rect">
            <a:avLst/>
          </a:prstGeom>
          <a:noFill/>
        </p:spPr>
        <p:txBody>
          <a:bodyPr wrap="square" lIns="45720" rIns="45720" anchor="t">
            <a:spAutoFit/>
          </a:bodyPr>
          <a:lstStyle/>
          <a:p>
            <a:pPr algn="l">
              <a:spcAft>
                <a:spcPts val="600"/>
              </a:spcAft>
            </a:pPr>
            <a:r>
              <a:rPr sz="1800" b="1" i="0">
                <a:solidFill>
                  <a:srgbClr val="0D1B3E"/>
                </a:solidFill>
                <a:latin typeface="Arial"/>
              </a:rPr>
              <a:t>Missing context</a:t>
            </a:r>
          </a:p>
        </p:txBody>
      </p:sp>
      <p:sp>
        <p:nvSpPr>
          <p:cNvPr id="9" name="TextBox 8"/>
          <p:cNvSpPr txBox="1"/>
          <p:nvPr/>
        </p:nvSpPr>
        <p:spPr>
          <a:xfrm>
            <a:off x="3072384" y="3063240"/>
            <a:ext cx="1600200" cy="1325880"/>
          </a:xfrm>
          <a:prstGeom prst="rect">
            <a:avLst/>
          </a:prstGeom>
          <a:noFill/>
        </p:spPr>
        <p:txBody>
          <a:bodyPr wrap="square" lIns="45720" rIns="45720" anchor="t">
            <a:spAutoFit/>
          </a:bodyPr>
          <a:lstStyle/>
          <a:p>
            <a:pPr algn="l">
              <a:spcAft>
                <a:spcPts val="400"/>
              </a:spcAft>
            </a:pPr>
            <a:r>
              <a:rPr sz="1600" b="0" i="0">
                <a:solidFill>
                  <a:srgbClr val="1A2744"/>
                </a:solidFill>
                <a:latin typeface="Arial"/>
              </a:rPr>
              <a:t>Copilot has to guess</a:t>
            </a:r>
          </a:p>
        </p:txBody>
      </p:sp>
      <p:sp>
        <p:nvSpPr>
          <p:cNvPr id="10" name="Rounded Rectangle 9"/>
          <p:cNvSpPr/>
          <p:nvPr/>
        </p:nvSpPr>
        <p:spPr>
          <a:xfrm>
            <a:off x="5047488" y="2103120"/>
            <a:ext cx="2057400" cy="237744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76088" y="2267712"/>
            <a:ext cx="1600200" cy="777240"/>
          </a:xfrm>
          <a:prstGeom prst="rect">
            <a:avLst/>
          </a:prstGeom>
          <a:noFill/>
        </p:spPr>
        <p:txBody>
          <a:bodyPr wrap="square" lIns="45720" rIns="45720" anchor="t">
            <a:spAutoFit/>
          </a:bodyPr>
          <a:lstStyle/>
          <a:p>
            <a:pPr algn="l">
              <a:spcAft>
                <a:spcPts val="600"/>
              </a:spcAft>
            </a:pPr>
            <a:r>
              <a:rPr sz="1800" b="1" i="0">
                <a:solidFill>
                  <a:srgbClr val="0D1B3E"/>
                </a:solidFill>
                <a:latin typeface="Arial"/>
              </a:rPr>
              <a:t>Wasted credits</a:t>
            </a:r>
          </a:p>
        </p:txBody>
      </p:sp>
      <p:sp>
        <p:nvSpPr>
          <p:cNvPr id="12" name="TextBox 11"/>
          <p:cNvSpPr txBox="1"/>
          <p:nvPr/>
        </p:nvSpPr>
        <p:spPr>
          <a:xfrm>
            <a:off x="5276088" y="3063240"/>
            <a:ext cx="1600200" cy="1325880"/>
          </a:xfrm>
          <a:prstGeom prst="rect">
            <a:avLst/>
          </a:prstGeom>
          <a:noFill/>
        </p:spPr>
        <p:txBody>
          <a:bodyPr wrap="square" lIns="45720" rIns="45720" anchor="t">
            <a:spAutoFit/>
          </a:bodyPr>
          <a:lstStyle/>
          <a:p>
            <a:pPr algn="l">
              <a:spcAft>
                <a:spcPts val="400"/>
              </a:spcAft>
            </a:pPr>
            <a:r>
              <a:rPr sz="1600" b="0" i="0">
                <a:solidFill>
                  <a:srgbClr val="1A2744"/>
                </a:solidFill>
                <a:latin typeface="Arial"/>
              </a:rPr>
              <a:t>The delegate pays for clarifying questions</a:t>
            </a:r>
          </a:p>
        </p:txBody>
      </p:sp>
      <p:sp>
        <p:nvSpPr>
          <p:cNvPr id="13" name="Rounded Rectangle 12"/>
          <p:cNvSpPr/>
          <p:nvPr/>
        </p:nvSpPr>
        <p:spPr>
          <a:xfrm>
            <a:off x="7251192" y="2103120"/>
            <a:ext cx="2057400" cy="237744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79792" y="2267712"/>
            <a:ext cx="1600200" cy="777240"/>
          </a:xfrm>
          <a:prstGeom prst="rect">
            <a:avLst/>
          </a:prstGeom>
          <a:noFill/>
        </p:spPr>
        <p:txBody>
          <a:bodyPr wrap="square" lIns="45720" rIns="45720" anchor="t">
            <a:spAutoFit/>
          </a:bodyPr>
          <a:lstStyle/>
          <a:p>
            <a:pPr algn="l">
              <a:spcAft>
                <a:spcPts val="600"/>
              </a:spcAft>
            </a:pPr>
            <a:r>
              <a:rPr sz="1800" b="1" i="0">
                <a:solidFill>
                  <a:srgbClr val="0D1B3E"/>
                </a:solidFill>
                <a:latin typeface="Arial"/>
              </a:rPr>
              <a:t>Lost knowledge</a:t>
            </a:r>
          </a:p>
        </p:txBody>
      </p:sp>
      <p:sp>
        <p:nvSpPr>
          <p:cNvPr id="15" name="TextBox 14"/>
          <p:cNvSpPr txBox="1"/>
          <p:nvPr/>
        </p:nvSpPr>
        <p:spPr>
          <a:xfrm>
            <a:off x="7479792" y="3063240"/>
            <a:ext cx="1600200" cy="1325880"/>
          </a:xfrm>
          <a:prstGeom prst="rect">
            <a:avLst/>
          </a:prstGeom>
          <a:noFill/>
        </p:spPr>
        <p:txBody>
          <a:bodyPr wrap="square" lIns="45720" rIns="45720" anchor="t">
            <a:spAutoFit/>
          </a:bodyPr>
          <a:lstStyle/>
          <a:p>
            <a:pPr algn="l">
              <a:spcAft>
                <a:spcPts val="400"/>
              </a:spcAft>
            </a:pPr>
            <a:r>
              <a:rPr sz="1600" b="0" i="0">
                <a:solidFill>
                  <a:srgbClr val="1A2744"/>
                </a:solidFill>
                <a:latin typeface="Arial"/>
              </a:rPr>
              <a:t>It disappears with the Copilot conversation</a:t>
            </a:r>
          </a:p>
        </p:txBody>
      </p:sp>
      <p:sp>
        <p:nvSpPr>
          <p:cNvPr id="16" name="Rounded Rectangle 15"/>
          <p:cNvSpPr/>
          <p:nvPr/>
        </p:nvSpPr>
        <p:spPr>
          <a:xfrm>
            <a:off x="9454896" y="2103120"/>
            <a:ext cx="2057400" cy="237744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83496" y="2267712"/>
            <a:ext cx="1600200" cy="777240"/>
          </a:xfrm>
          <a:prstGeom prst="rect">
            <a:avLst/>
          </a:prstGeom>
          <a:noFill/>
        </p:spPr>
        <p:txBody>
          <a:bodyPr wrap="square" lIns="45720" rIns="45720" anchor="t">
            <a:spAutoFit/>
          </a:bodyPr>
          <a:lstStyle/>
          <a:p>
            <a:pPr algn="l">
              <a:spcAft>
                <a:spcPts val="600"/>
              </a:spcAft>
            </a:pPr>
            <a:r>
              <a:rPr sz="1800" b="1" i="0">
                <a:solidFill>
                  <a:srgbClr val="0D1B3E"/>
                </a:solidFill>
                <a:latin typeface="Arial"/>
              </a:rPr>
              <a:t>No visibility</a:t>
            </a:r>
          </a:p>
        </p:txBody>
      </p:sp>
      <p:sp>
        <p:nvSpPr>
          <p:cNvPr id="18" name="TextBox 17"/>
          <p:cNvSpPr txBox="1"/>
          <p:nvPr/>
        </p:nvSpPr>
        <p:spPr>
          <a:xfrm>
            <a:off x="9683496" y="3063240"/>
            <a:ext cx="1600200" cy="1325880"/>
          </a:xfrm>
          <a:prstGeom prst="rect">
            <a:avLst/>
          </a:prstGeom>
          <a:noFill/>
        </p:spPr>
        <p:txBody>
          <a:bodyPr wrap="square" lIns="45720" rIns="45720" anchor="t">
            <a:spAutoFit/>
          </a:bodyPr>
          <a:lstStyle/>
          <a:p>
            <a:pPr algn="l">
              <a:spcAft>
                <a:spcPts val="400"/>
              </a:spcAft>
            </a:pPr>
            <a:r>
              <a:rPr sz="1600" b="0" i="0">
                <a:solidFill>
                  <a:srgbClr val="1A2744"/>
                </a:solidFill>
                <a:latin typeface="Arial"/>
              </a:rPr>
              <a:t>Nobody sees who is waiting on whom</a:t>
            </a:r>
          </a:p>
        </p:txBody>
      </p:sp>
      <p:sp>
        <p:nvSpPr>
          <p:cNvPr id="19" name="TextBox 18"/>
          <p:cNvSpPr txBox="1"/>
          <p:nvPr/>
        </p:nvSpPr>
        <p:spPr>
          <a:xfrm>
            <a:off x="640080" y="5029200"/>
            <a:ext cx="10881360" cy="731520"/>
          </a:xfrm>
          <a:prstGeom prst="rect">
            <a:avLst/>
          </a:prstGeom>
          <a:noFill/>
        </p:spPr>
        <p:txBody>
          <a:bodyPr wrap="square" lIns="45720" rIns="45720" anchor="t">
            <a:spAutoFit/>
          </a:bodyPr>
          <a:lstStyle/>
          <a:p>
            <a:pPr algn="l">
              <a:spcAft>
                <a:spcPts val="600"/>
              </a:spcAft>
            </a:pPr>
            <a:r>
              <a:rPr sz="2200" b="0" i="0">
                <a:solidFill>
                  <a:srgbClr val="0D1B3E"/>
                </a:solidFill>
                <a:latin typeface="Arial"/>
              </a:rPr>
              <a:t>Goal: make the handoff </a:t>
            </a:r>
            <a:r>
              <a:rPr sz="2200" b="1" i="0">
                <a:solidFill>
                  <a:srgbClr val="0D1B3E"/>
                </a:solidFill>
                <a:latin typeface="Arial"/>
              </a:rPr>
              <a:t>cheap, explicit and repeatable</a:t>
            </a:r>
            <a:r>
              <a:rPr sz="2200" b="0" i="0">
                <a:solidFill>
                  <a:srgbClr val="0D1B3E"/>
                </a:solidFill>
                <a:latin typeface="Arial"/>
              </a:rPr>
              <a:t>.</a:t>
            </a:r>
          </a:p>
        </p:txBody>
      </p:sp>
      <p:sp>
        <p:nvSpPr>
          <p:cNvPr id="20" name="TextBox 19"/>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914400" y="914400"/>
            <a:ext cx="10332720" cy="1188720"/>
          </a:xfrm>
          <a:prstGeom prst="rect">
            <a:avLst/>
          </a:prstGeom>
          <a:noFill/>
        </p:spPr>
        <p:txBody>
          <a:bodyPr wrap="square" lIns="45720" rIns="45720" anchor="b">
            <a:spAutoFit/>
          </a:bodyPr>
          <a:lstStyle/>
          <a:p>
            <a:pPr algn="l">
              <a:spcAft>
                <a:spcPts val="600"/>
              </a:spcAft>
            </a:pPr>
            <a:r>
              <a:rPr sz="4400" b="1" i="0">
                <a:solidFill>
                  <a:srgbClr val="4ECDC4"/>
                </a:solidFill>
                <a:latin typeface="Arial"/>
              </a:rPr>
              <a:t>Key principle</a:t>
            </a:r>
          </a:p>
        </p:txBody>
      </p:sp>
      <p:sp>
        <p:nvSpPr>
          <p:cNvPr id="3" name="Rectangle 2"/>
          <p:cNvSpPr/>
          <p:nvPr/>
        </p:nvSpPr>
        <p:spPr>
          <a:xfrm>
            <a:off x="914400" y="2240280"/>
            <a:ext cx="2011680" cy="64008"/>
          </a:xfrm>
          <a:prstGeom prst="rect">
            <a:avLst/>
          </a:prstGeom>
          <a:solidFill>
            <a:srgbClr val="4EC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14600"/>
            <a:ext cx="10332720" cy="914400"/>
          </a:xfrm>
          <a:prstGeom prst="rect">
            <a:avLst/>
          </a:prstGeom>
          <a:noFill/>
        </p:spPr>
        <p:txBody>
          <a:bodyPr wrap="square" lIns="45720" rIns="45720" anchor="t">
            <a:spAutoFit/>
          </a:bodyPr>
          <a:lstStyle/>
          <a:p>
            <a:pPr algn="l">
              <a:spcAft>
                <a:spcPts val="600"/>
              </a:spcAft>
            </a:pPr>
            <a:r>
              <a:rPr sz="2800" b="1" i="0">
                <a:solidFill>
                  <a:srgbClr val="FFFFFF"/>
                </a:solidFill>
                <a:latin typeface="Arial"/>
              </a:rPr>
              <a:t>Nobody transfers tokens or shares accounts.</a:t>
            </a:r>
          </a:p>
        </p:txBody>
      </p:sp>
      <p:sp>
        <p:nvSpPr>
          <p:cNvPr id="5" name="TextBox 4"/>
          <p:cNvSpPr txBox="1"/>
          <p:nvPr/>
        </p:nvSpPr>
        <p:spPr>
          <a:xfrm>
            <a:off x="914400" y="3520440"/>
            <a:ext cx="10332720" cy="2880360"/>
          </a:xfrm>
          <a:prstGeom prst="rect">
            <a:avLst/>
          </a:prstGeom>
          <a:noFill/>
        </p:spPr>
        <p:txBody>
          <a:bodyPr wrap="square" lIns="45720" rIns="45720" anchor="t">
            <a:spAutoFit/>
          </a:bodyPr>
          <a:lstStyle/>
          <a:p>
            <a:pPr>
              <a:spcAft>
                <a:spcPts val="400"/>
              </a:spcAft>
            </a:pPr>
            <a:r>
              <a:rPr sz="2200" b="0" i="0">
                <a:solidFill>
                  <a:srgbClr val="FFFFFF"/>
                </a:solidFill>
                <a:latin typeface="Arial"/>
              </a:rPr>
              <a:t>The owner delegates a </a:t>
            </a:r>
            <a:r>
              <a:rPr sz="2200" b="1" i="0">
                <a:solidFill>
                  <a:srgbClr val="FFFFFF"/>
                </a:solidFill>
                <a:latin typeface="Arial"/>
              </a:rPr>
              <a:t>task</a:t>
            </a:r>
            <a:r>
              <a:rPr sz="2200" b="0" i="0">
                <a:solidFill>
                  <a:srgbClr val="FFFFFF"/>
                </a:solidFill>
                <a:latin typeface="Arial"/>
              </a:rPr>
              <a:t> to a colleague with Copilot capacity and stays responsible for validating and delivering it.</a:t>
            </a:r>
          </a:p>
          <a:p>
            <a:pPr>
              <a:spcAft>
                <a:spcPts val="400"/>
              </a:spcAft>
            </a:pPr>
          </a:p>
          <a:p>
            <a:pPr>
              <a:spcAft>
                <a:spcPts val="400"/>
              </a:spcAft>
            </a:pPr>
            <a:r>
              <a:rPr sz="2200" b="0" i="0">
                <a:solidFill>
                  <a:srgbClr val="4ECDC4"/>
                </a:solidFill>
                <a:latin typeface="Arial"/>
              </a:rPr>
              <a:t>The </a:t>
            </a:r>
            <a:r>
              <a:rPr sz="2200" b="1" i="0">
                <a:solidFill>
                  <a:srgbClr val="4ECDC4"/>
                </a:solidFill>
                <a:latin typeface="Arial"/>
              </a:rPr>
              <a:t>task file</a:t>
            </a:r>
            <a:r>
              <a:rPr sz="2200" b="0" i="0">
                <a:solidFill>
                  <a:srgbClr val="4ECDC4"/>
                </a:solidFill>
                <a:latin typeface="Arial"/>
              </a:rPr>
              <a:t>, not the chat history, carries everything the delegate needs.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Why this split works</a:t>
            </a:r>
          </a:p>
        </p:txBody>
      </p:sp>
      <p:sp>
        <p:nvSpPr>
          <p:cNvPr id="3" name="Rounded Rectangle 2"/>
          <p:cNvSpPr/>
          <p:nvPr/>
        </p:nvSpPr>
        <p:spPr>
          <a:xfrm>
            <a:off x="640080" y="1463040"/>
            <a:ext cx="5303520" cy="356616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27632"/>
            <a:ext cx="4846320" cy="475488"/>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Costs no AI credits</a:t>
            </a:r>
          </a:p>
        </p:txBody>
      </p:sp>
      <p:sp>
        <p:nvSpPr>
          <p:cNvPr id="5" name="TextBox 4"/>
          <p:cNvSpPr txBox="1"/>
          <p:nvPr/>
        </p:nvSpPr>
        <p:spPr>
          <a:xfrm>
            <a:off x="868680" y="2121408"/>
            <a:ext cx="4846320" cy="2816352"/>
          </a:xfrm>
          <a:prstGeom prst="rect">
            <a:avLst/>
          </a:prstGeom>
          <a:noFill/>
        </p:spPr>
        <p:txBody>
          <a:bodyPr wrap="square" lIns="45720" rIns="45720" anchor="t">
            <a:spAutoFit/>
          </a:bodyPr>
          <a:lstStyle/>
          <a:p>
            <a:pPr algn="l">
              <a:spcAft>
                <a:spcPts val="400"/>
              </a:spcAft>
            </a:pPr>
            <a:r>
              <a:rPr sz="2000" b="0" i="0">
                <a:solidFill>
                  <a:srgbClr val="1A2744"/>
                </a:solidFill>
                <a:latin typeface="Arial"/>
              </a:rPr>
              <a:t>•  Understanding the requirement</a:t>
            </a:r>
          </a:p>
          <a:p>
            <a:pPr algn="l">
              <a:spcAft>
                <a:spcPts val="400"/>
              </a:spcAft>
            </a:pPr>
            <a:r>
              <a:rPr sz="2000" b="0" i="0">
                <a:solidFill>
                  <a:srgbClr val="1A2744"/>
                </a:solidFill>
                <a:latin typeface="Arial"/>
              </a:rPr>
              <a:t>•  Writing a clear spec</a:t>
            </a:r>
          </a:p>
          <a:p>
            <a:pPr algn="l">
              <a:spcAft>
                <a:spcPts val="400"/>
              </a:spcAft>
            </a:pPr>
            <a:r>
              <a:rPr sz="2000" b="0" i="0">
                <a:solidFill>
                  <a:srgbClr val="1A2744"/>
                </a:solidFill>
                <a:latin typeface="Arial"/>
              </a:rPr>
              <a:t>•  Reviewing the spec</a:t>
            </a:r>
          </a:p>
          <a:p>
            <a:pPr algn="l">
              <a:spcAft>
                <a:spcPts val="400"/>
              </a:spcAft>
            </a:pPr>
            <a:r>
              <a:rPr sz="2000" b="0" i="0">
                <a:solidFill>
                  <a:srgbClr val="1A2744"/>
                </a:solidFill>
                <a:latin typeface="Arial"/>
              </a:rPr>
              <a:t>•  Validating the result</a:t>
            </a:r>
          </a:p>
        </p:txBody>
      </p:sp>
      <p:sp>
        <p:nvSpPr>
          <p:cNvPr id="6" name="Rounded Rectangle 5"/>
          <p:cNvSpPr/>
          <p:nvPr/>
        </p:nvSpPr>
        <p:spPr>
          <a:xfrm>
            <a:off x="6263640" y="1463040"/>
            <a:ext cx="5303520" cy="356616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27632"/>
            <a:ext cx="4846320" cy="475488"/>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Where Copilot saves the most time</a:t>
            </a:r>
          </a:p>
        </p:txBody>
      </p:sp>
      <p:sp>
        <p:nvSpPr>
          <p:cNvPr id="8" name="TextBox 7"/>
          <p:cNvSpPr txBox="1"/>
          <p:nvPr/>
        </p:nvSpPr>
        <p:spPr>
          <a:xfrm>
            <a:off x="6492240" y="2121408"/>
            <a:ext cx="4846320" cy="2816352"/>
          </a:xfrm>
          <a:prstGeom prst="rect">
            <a:avLst/>
          </a:prstGeom>
          <a:noFill/>
        </p:spPr>
        <p:txBody>
          <a:bodyPr wrap="square" lIns="45720" rIns="45720" anchor="t">
            <a:spAutoFit/>
          </a:bodyPr>
          <a:lstStyle/>
          <a:p>
            <a:pPr algn="l">
              <a:spcAft>
                <a:spcPts val="400"/>
              </a:spcAft>
            </a:pPr>
            <a:r>
              <a:rPr sz="2000" b="0" i="0">
                <a:solidFill>
                  <a:srgbClr val="1A2744"/>
                </a:solidFill>
                <a:latin typeface="Arial"/>
              </a:rPr>
              <a:t>•  Writing the implementation</a:t>
            </a:r>
          </a:p>
          <a:p>
            <a:pPr algn="l">
              <a:spcAft>
                <a:spcPts val="400"/>
              </a:spcAft>
            </a:pPr>
            <a:r>
              <a:rPr sz="2000" b="0" i="0">
                <a:solidFill>
                  <a:srgbClr val="1A2744"/>
                </a:solidFill>
                <a:latin typeface="Arial"/>
              </a:rPr>
              <a:t>•  Generating the test suite</a:t>
            </a:r>
          </a:p>
          <a:p>
            <a:pPr algn="l">
              <a:spcAft>
                <a:spcPts val="400"/>
              </a:spcAft>
            </a:pPr>
            <a:r>
              <a:rPr sz="2000" b="0" i="0">
                <a:solidFill>
                  <a:srgbClr val="1A2744"/>
                </a:solidFill>
                <a:latin typeface="Arial"/>
              </a:rPr>
              <a:t>•  Boilerplate, mappers, migrations</a:t>
            </a:r>
          </a:p>
          <a:p>
            <a:pPr algn="l">
              <a:spcAft>
                <a:spcPts val="400"/>
              </a:spcAft>
            </a:pPr>
            <a:r>
              <a:rPr sz="2000" b="0" i="0">
                <a:solidFill>
                  <a:srgbClr val="1A2744"/>
                </a:solidFill>
                <a:latin typeface="Arial"/>
              </a:rPr>
              <a:t>•  Mechanical refactors across files</a:t>
            </a:r>
          </a:p>
        </p:txBody>
      </p:sp>
      <p:sp>
        <p:nvSpPr>
          <p:cNvPr id="9" name="TextBox 8"/>
          <p:cNvSpPr txBox="1"/>
          <p:nvPr/>
        </p:nvSpPr>
        <p:spPr>
          <a:xfrm>
            <a:off x="640080" y="5349240"/>
            <a:ext cx="10881360" cy="731520"/>
          </a:xfrm>
          <a:prstGeom prst="rect">
            <a:avLst/>
          </a:prstGeom>
          <a:noFill/>
        </p:spPr>
        <p:txBody>
          <a:bodyPr wrap="square" lIns="45720" rIns="45720" anchor="t">
            <a:spAutoFit/>
          </a:bodyPr>
          <a:lstStyle/>
          <a:p>
            <a:pPr algn="ctr">
              <a:spcAft>
                <a:spcPts val="600"/>
              </a:spcAft>
            </a:pPr>
            <a:r>
              <a:rPr sz="2100" b="1" i="0">
                <a:solidFill>
                  <a:srgbClr val="0D1B3E"/>
                </a:solidFill>
                <a:latin typeface="Arial"/>
              </a:rPr>
              <a:t>Owner:</a:t>
            </a:r>
            <a:r>
              <a:rPr sz="2100" b="0" i="0">
                <a:solidFill>
                  <a:srgbClr val="0D1B3E"/>
                </a:solidFill>
                <a:latin typeface="Arial"/>
              </a:rPr>
              <a:t> thinking and checking.   </a:t>
            </a:r>
            <a:r>
              <a:rPr sz="2100" b="1" i="0">
                <a:solidFill>
                  <a:srgbClr val="0D1B3E"/>
                </a:solidFill>
                <a:latin typeface="Arial"/>
              </a:rPr>
              <a:t>Delegate:</a:t>
            </a:r>
            <a:r>
              <a:rPr sz="2100" b="0" i="0">
                <a:solidFill>
                  <a:srgbClr val="0D1B3E"/>
                </a:solidFill>
                <a:latin typeface="Arial"/>
              </a:rPr>
              <a:t> spends credits only where they pay off.</a:t>
            </a:r>
          </a:p>
        </p:txBody>
      </p:sp>
      <p:sp>
        <p:nvSpPr>
          <p:cNvPr id="10" name="TextBox 9"/>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Spec-driven development, team edition</a:t>
            </a:r>
          </a:p>
        </p:txBody>
      </p:sp>
      <p:graphicFrame>
        <p:nvGraphicFramePr>
          <p:cNvPr id="3" name="Table 2"/>
          <p:cNvGraphicFramePr>
            <a:graphicFrameLocks noGrp="1"/>
          </p:cNvGraphicFramePr>
          <p:nvPr/>
        </p:nvGraphicFramePr>
        <p:xfrm>
          <a:off x="640080" y="1371600"/>
          <a:ext cx="10881360" cy="3401568"/>
        </p:xfrm>
        <a:graphic>
          <a:graphicData uri="http://schemas.openxmlformats.org/drawingml/2006/table">
            <a:tbl>
              <a:tblPr firstRow="1" bandRow="1">
                <a:tableStyleId>{5C22544A-7EE6-4342-B048-85BDC9FD1C3A}</a:tableStyleId>
              </a:tblPr>
              <a:tblGrid>
                <a:gridCol w="4572000"/>
                <a:gridCol w="6309360"/>
              </a:tblGrid>
              <a:tr h="566928">
                <a:tc>
                  <a:txBody>
                    <a:bodyPr wrap="square"/>
                    <a:lstStyle/>
                    <a:p>
                      <a:r>
                        <a:rPr sz="1700" b="1" i="0">
                          <a:solidFill>
                            <a:srgbClr val="FFFFFF"/>
                          </a:solidFill>
                          <a:latin typeface="Arial"/>
                        </a:rPr>
                        <a:t>GitHub Spec Kit step</a:t>
                      </a:r>
                    </a:p>
                  </a:txBody>
                  <a:tcPr marL="109728" marR="109728" anchor="ctr">
                    <a:solidFill>
                      <a:srgbClr val="0D1B3E"/>
                    </a:solidFill>
                  </a:tcPr>
                </a:tc>
                <a:tc>
                  <a:txBody>
                    <a:bodyPr wrap="square"/>
                    <a:lstStyle/>
                    <a:p>
                      <a:r>
                        <a:rPr sz="1700" b="1" i="0">
                          <a:solidFill>
                            <a:srgbClr val="FFFFFF"/>
                          </a:solidFill>
                          <a:latin typeface="Arial"/>
                        </a:rPr>
                        <a:t>In this process</a:t>
                      </a:r>
                    </a:p>
                  </a:txBody>
                  <a:tcPr marL="109728" marR="109728" anchor="ctr">
                    <a:solidFill>
                      <a:srgbClr val="0D1B3E"/>
                    </a:solidFill>
                  </a:tcPr>
                </a:tc>
              </a:tr>
              <a:tr h="566928">
                <a:tc>
                  <a:txBody>
                    <a:bodyPr wrap="square"/>
                    <a:lstStyle/>
                    <a:p>
                      <a:r>
                        <a:rPr sz="1700" b="0" i="0">
                          <a:solidFill>
                            <a:srgbClr val="1A2744"/>
                          </a:solidFill>
                          <a:latin typeface="Courier New"/>
                        </a:rPr>
                        <a:t>/speckit-constitution</a:t>
                      </a:r>
                      <a:r>
                        <a:rPr sz="1700" b="0" i="0">
                          <a:solidFill>
                            <a:srgbClr val="1A2744"/>
                          </a:solidFill>
                          <a:latin typeface="Arial"/>
                        </a:rPr>
                        <a:t> (once)</a:t>
                      </a:r>
                    </a:p>
                  </a:txBody>
                  <a:tcPr marL="109728" marR="109728" anchor="ctr">
                    <a:solidFill>
                      <a:srgbClr val="FFFFFF"/>
                    </a:solidFill>
                  </a:tcPr>
                </a:tc>
                <a:tc>
                  <a:txBody>
                    <a:bodyPr wrap="square"/>
                    <a:lstStyle/>
                    <a:p>
                      <a:r>
                        <a:rPr sz="1700" b="0" i="0">
                          <a:solidFill>
                            <a:srgbClr val="1A2744"/>
                          </a:solidFill>
                          <a:latin typeface="Arial"/>
                        </a:rPr>
                        <a:t>Team standards in </a:t>
                      </a:r>
                      <a:r>
                        <a:rPr sz="1700" b="0" i="0">
                          <a:solidFill>
                            <a:srgbClr val="1A2744"/>
                          </a:solidFill>
                          <a:latin typeface="Courier New"/>
                        </a:rPr>
                        <a:t>/docs</a:t>
                      </a:r>
                      <a:r>
                        <a:rPr sz="1700" b="0" i="0">
                          <a:solidFill>
                            <a:srgbClr val="1A2744"/>
                          </a:solidFill>
                          <a:latin typeface="Arial"/>
                        </a:rPr>
                        <a:t>: architecture, coding, testing guides</a:t>
                      </a:r>
                    </a:p>
                  </a:txBody>
                  <a:tcPr marL="109728" marR="109728" anchor="ctr">
                    <a:solidFill>
                      <a:srgbClr val="FFFFFF"/>
                    </a:solidFill>
                  </a:tcPr>
                </a:tc>
              </a:tr>
              <a:tr h="566928">
                <a:tc>
                  <a:txBody>
                    <a:bodyPr wrap="square"/>
                    <a:lstStyle/>
                    <a:p>
                      <a:r>
                        <a:rPr sz="1700" b="0" i="0">
                          <a:solidFill>
                            <a:srgbClr val="1A2744"/>
                          </a:solidFill>
                          <a:latin typeface="Courier New"/>
                        </a:rPr>
                        <a:t>/speckit-specify</a:t>
                      </a:r>
                    </a:p>
                  </a:txBody>
                  <a:tcPr marL="109728" marR="109728" anchor="ctr">
                    <a:solidFill>
                      <a:srgbClr val="F1F3F6"/>
                    </a:solidFill>
                  </a:tcPr>
                </a:tc>
                <a:tc>
                  <a:txBody>
                    <a:bodyPr wrap="square"/>
                    <a:lstStyle/>
                    <a:p>
                      <a:r>
                        <a:rPr sz="1700" b="0" i="0">
                          <a:solidFill>
                            <a:srgbClr val="1A2744"/>
                          </a:solidFill>
                          <a:latin typeface="Arial"/>
                        </a:rPr>
                        <a:t>Business requirements, written up by the </a:t>
                      </a:r>
                      <a:r>
                        <a:rPr sz="1700" b="1" i="0">
                          <a:solidFill>
                            <a:srgbClr val="1A2744"/>
                          </a:solidFill>
                          <a:latin typeface="Arial"/>
                        </a:rPr>
                        <a:t>owner</a:t>
                      </a:r>
                    </a:p>
                  </a:txBody>
                  <a:tcPr marL="109728" marR="109728" anchor="ctr">
                    <a:solidFill>
                      <a:srgbClr val="F1F3F6"/>
                    </a:solidFill>
                  </a:tcPr>
                </a:tc>
              </a:tr>
              <a:tr h="566928">
                <a:tc>
                  <a:txBody>
                    <a:bodyPr wrap="square"/>
                    <a:lstStyle/>
                    <a:p>
                      <a:r>
                        <a:rPr sz="1700" b="0" i="0">
                          <a:solidFill>
                            <a:srgbClr val="1A2744"/>
                          </a:solidFill>
                          <a:latin typeface="Courier New"/>
                        </a:rPr>
                        <a:t>/speckit-plan</a:t>
                      </a:r>
                      <a:r>
                        <a:rPr sz="1700" b="0" i="0">
                          <a:solidFill>
                            <a:srgbClr val="1A2744"/>
                          </a:solidFill>
                          <a:latin typeface="Arial"/>
                        </a:rPr>
                        <a:t> + </a:t>
                      </a:r>
                      <a:r>
                        <a:rPr sz="1700" b="0" i="0">
                          <a:solidFill>
                            <a:srgbClr val="1A2744"/>
                          </a:solidFill>
                          <a:latin typeface="Courier New"/>
                        </a:rPr>
                        <a:t>/speckit-tasks</a:t>
                      </a:r>
                    </a:p>
                  </a:txBody>
                  <a:tcPr marL="109728" marR="109728" anchor="ctr">
                    <a:solidFill>
                      <a:srgbClr val="FFFFFF"/>
                    </a:solidFill>
                  </a:tcPr>
                </a:tc>
                <a:tc>
                  <a:txBody>
                    <a:bodyPr wrap="square"/>
                    <a:lstStyle/>
                    <a:p>
                      <a:r>
                        <a:rPr sz="1700" b="0" i="0">
                          <a:solidFill>
                            <a:srgbClr val="1A2744"/>
                          </a:solidFill>
                          <a:latin typeface="Arial"/>
                        </a:rPr>
                        <a:t>The </a:t>
                      </a:r>
                      <a:r>
                        <a:rPr sz="1700" b="1" i="0">
                          <a:solidFill>
                            <a:srgbClr val="1A2744"/>
                          </a:solidFill>
                          <a:latin typeface="Arial"/>
                        </a:rPr>
                        <a:t>approved</a:t>
                      </a:r>
                      <a:r>
                        <a:rPr sz="1700" b="0" i="0">
                          <a:solidFill>
                            <a:srgbClr val="1A2744"/>
                          </a:solidFill>
                          <a:latin typeface="Arial"/>
                        </a:rPr>
                        <a:t> </a:t>
                      </a:r>
                      <a:r>
                        <a:rPr sz="1700" b="0" i="0">
                          <a:solidFill>
                            <a:srgbClr val="1A2744"/>
                          </a:solidFill>
                          <a:latin typeface="Courier New"/>
                        </a:rPr>
                        <a:t>TASK-NNN.md</a:t>
                      </a:r>
                      <a:r>
                        <a:rPr sz="1700" b="0" i="0">
                          <a:solidFill>
                            <a:srgbClr val="1A2744"/>
                          </a:solidFill>
                          <a:latin typeface="Arial"/>
                        </a:rPr>
                        <a:t> file</a:t>
                      </a:r>
                    </a:p>
                  </a:txBody>
                  <a:tcPr marL="109728" marR="109728" anchor="ctr">
                    <a:solidFill>
                      <a:srgbClr val="FFFFFF"/>
                    </a:solidFill>
                  </a:tcPr>
                </a:tc>
              </a:tr>
              <a:tr h="566928">
                <a:tc>
                  <a:txBody>
                    <a:bodyPr wrap="square"/>
                    <a:lstStyle/>
                    <a:p>
                      <a:r>
                        <a:rPr sz="1700" b="0" i="0">
                          <a:solidFill>
                            <a:srgbClr val="1A2744"/>
                          </a:solidFill>
                          <a:latin typeface="Courier New"/>
                        </a:rPr>
                        <a:t>/speckit-implement</a:t>
                      </a:r>
                    </a:p>
                  </a:txBody>
                  <a:tcPr marL="109728" marR="109728" anchor="ctr">
                    <a:solidFill>
                      <a:srgbClr val="F1F3F6"/>
                    </a:solidFill>
                  </a:tcPr>
                </a:tc>
                <a:tc>
                  <a:txBody>
                    <a:bodyPr wrap="square"/>
                    <a:lstStyle/>
                    <a:p>
                      <a:r>
                        <a:rPr sz="1700" b="0" i="0">
                          <a:solidFill>
                            <a:srgbClr val="1A2744"/>
                          </a:solidFill>
                          <a:latin typeface="Arial"/>
                        </a:rPr>
                        <a:t>The </a:t>
                      </a:r>
                      <a:r>
                        <a:rPr sz="1700" b="1" i="0">
                          <a:solidFill>
                            <a:srgbClr val="1A2744"/>
                          </a:solidFill>
                          <a:latin typeface="Arial"/>
                        </a:rPr>
                        <a:t>delegate's</a:t>
                      </a:r>
                      <a:r>
                        <a:rPr sz="1700" b="0" i="0">
                          <a:solidFill>
                            <a:srgbClr val="1A2744"/>
                          </a:solidFill>
                          <a:latin typeface="Arial"/>
                        </a:rPr>
                        <a:t> Copilot session</a:t>
                      </a:r>
                    </a:p>
                  </a:txBody>
                  <a:tcPr marL="109728" marR="109728" anchor="ctr">
                    <a:solidFill>
                      <a:srgbClr val="F1F3F6"/>
                    </a:solidFill>
                  </a:tcPr>
                </a:tc>
              </a:tr>
              <a:tr h="566928">
                <a:tc>
                  <a:txBody>
                    <a:bodyPr wrap="square"/>
                    <a:lstStyle/>
                    <a:p>
                      <a:r>
                        <a:rPr sz="1700" b="0" i="0">
                          <a:solidFill>
                            <a:srgbClr val="1A2744"/>
                          </a:solidFill>
                          <a:latin typeface="Courier New"/>
                        </a:rPr>
                        <a:t>/speckit-converge</a:t>
                      </a:r>
                    </a:p>
                  </a:txBody>
                  <a:tcPr marL="109728" marR="109728" anchor="ctr">
                    <a:solidFill>
                      <a:srgbClr val="FFFFFF"/>
                    </a:solidFill>
                  </a:tcPr>
                </a:tc>
                <a:tc>
                  <a:txBody>
                    <a:bodyPr wrap="square"/>
                    <a:lstStyle/>
                    <a:p>
                      <a:r>
                        <a:rPr sz="1700" b="0" i="0">
                          <a:solidFill>
                            <a:srgbClr val="1A2744"/>
                          </a:solidFill>
                          <a:latin typeface="Arial"/>
                        </a:rPr>
                        <a:t>The </a:t>
                      </a:r>
                      <a:r>
                        <a:rPr sz="1700" b="1" i="0">
                          <a:solidFill>
                            <a:srgbClr val="1A2744"/>
                          </a:solidFill>
                          <a:latin typeface="Arial"/>
                        </a:rPr>
                        <a:t>owner's</a:t>
                      </a:r>
                      <a:r>
                        <a:rPr sz="1700" b="0" i="0">
                          <a:solidFill>
                            <a:srgbClr val="1A2744"/>
                          </a:solidFill>
                          <a:latin typeface="Arial"/>
                        </a:rPr>
                        <a:t> validation loop</a:t>
                      </a:r>
                    </a:p>
                  </a:txBody>
                  <a:tcPr marL="109728" marR="109728" anchor="ctr">
                    <a:solidFill>
                      <a:srgbClr val="FFFFFF"/>
                    </a:solidFill>
                  </a:tcPr>
                </a:tc>
              </a:tr>
            </a:tbl>
          </a:graphicData>
        </a:graphic>
      </p:graphicFrame>
      <p:sp>
        <p:nvSpPr>
          <p:cNvPr id="4" name="Rounded Rectangle 3"/>
          <p:cNvSpPr/>
          <p:nvPr/>
        </p:nvSpPr>
        <p:spPr>
          <a:xfrm>
            <a:off x="640080" y="5166360"/>
            <a:ext cx="10881360" cy="1051560"/>
          </a:xfrm>
          <a:prstGeom prst="roundRect">
            <a:avLst>
              <a:gd name="adj" fmla="val 8000"/>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5257800"/>
            <a:ext cx="10424160" cy="914400"/>
          </a:xfrm>
          <a:prstGeom prst="rect">
            <a:avLst/>
          </a:prstGeom>
          <a:noFill/>
        </p:spPr>
        <p:txBody>
          <a:bodyPr wrap="square" lIns="45720" rIns="45720" anchor="ctr">
            <a:spAutoFit/>
          </a:bodyPr>
          <a:lstStyle/>
          <a:p>
            <a:pPr algn="l">
              <a:spcAft>
                <a:spcPts val="200"/>
              </a:spcAft>
            </a:pPr>
            <a:r>
              <a:rPr sz="1700" b="0" i="0">
                <a:solidFill>
                  <a:srgbClr val="D8E4F0"/>
                </a:solidFill>
                <a:latin typeface="Courier New"/>
              </a:rPr>
              <a:t>$ uv tool install specify-cli</a:t>
            </a:r>
          </a:p>
          <a:p>
            <a:pPr algn="l">
              <a:spcAft>
                <a:spcPts val="200"/>
              </a:spcAft>
            </a:pPr>
            <a:r>
              <a:rPr sz="1700" b="0" i="0">
                <a:solidFill>
                  <a:srgbClr val="D8E4F0"/>
                </a:solidFill>
                <a:latin typeface="Courier New"/>
              </a:rPr>
              <a:t>$ specify init &lt;project&gt; --integration copilot</a:t>
            </a:r>
          </a:p>
        </p:txBody>
      </p:sp>
      <p:sp>
        <p:nvSpPr>
          <p:cNvPr id="6" name="TextBox 5"/>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Four roles</a:t>
            </a:r>
          </a:p>
        </p:txBody>
      </p:sp>
      <p:sp>
        <p:nvSpPr>
          <p:cNvPr id="3" name="Rounded Rectangle 2"/>
          <p:cNvSpPr/>
          <p:nvPr/>
        </p:nvSpPr>
        <p:spPr>
          <a:xfrm>
            <a:off x="640080" y="1417320"/>
            <a:ext cx="5349240" cy="219456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00200"/>
            <a:ext cx="4846320" cy="502920"/>
          </a:xfrm>
          <a:prstGeom prst="rect">
            <a:avLst/>
          </a:prstGeom>
          <a:noFill/>
        </p:spPr>
        <p:txBody>
          <a:bodyPr wrap="square" lIns="45720" rIns="45720" anchor="t">
            <a:spAutoFit/>
          </a:bodyPr>
          <a:lstStyle/>
          <a:p>
            <a:pPr algn="l">
              <a:spcAft>
                <a:spcPts val="600"/>
              </a:spcAft>
            </a:pPr>
            <a:r>
              <a:rPr sz="2600" b="1" i="0">
                <a:solidFill>
                  <a:srgbClr val="0D1B3E"/>
                </a:solidFill>
                <a:latin typeface="Arial"/>
              </a:rPr>
              <a:t>Business</a:t>
            </a:r>
          </a:p>
        </p:txBody>
      </p:sp>
      <p:sp>
        <p:nvSpPr>
          <p:cNvPr id="5" name="TextBox 4"/>
          <p:cNvSpPr txBox="1"/>
          <p:nvPr/>
        </p:nvSpPr>
        <p:spPr>
          <a:xfrm>
            <a:off x="914400" y="2148840"/>
            <a:ext cx="4846320" cy="457200"/>
          </a:xfrm>
          <a:prstGeom prst="rect">
            <a:avLst/>
          </a:prstGeom>
          <a:noFill/>
        </p:spPr>
        <p:txBody>
          <a:bodyPr wrap="square" lIns="45720" rIns="45720" anchor="t">
            <a:spAutoFit/>
          </a:bodyPr>
          <a:lstStyle/>
          <a:p>
            <a:pPr algn="l">
              <a:spcAft>
                <a:spcPts val="600"/>
              </a:spcAft>
            </a:pPr>
            <a:r>
              <a:rPr sz="1600" b="0" i="1">
                <a:solidFill>
                  <a:srgbClr val="6B7A90"/>
                </a:solidFill>
                <a:latin typeface="Arial"/>
              </a:rPr>
              <a:t>Product owner or analyst</a:t>
            </a:r>
          </a:p>
        </p:txBody>
      </p:sp>
      <p:sp>
        <p:nvSpPr>
          <p:cNvPr id="6" name="TextBox 5"/>
          <p:cNvSpPr txBox="1"/>
          <p:nvPr/>
        </p:nvSpPr>
        <p:spPr>
          <a:xfrm>
            <a:off x="914400" y="2606040"/>
            <a:ext cx="4846320" cy="822960"/>
          </a:xfrm>
          <a:prstGeom prst="rect">
            <a:avLst/>
          </a:prstGeom>
          <a:noFill/>
        </p:spPr>
        <p:txBody>
          <a:bodyPr wrap="square" lIns="45720" rIns="45720" anchor="t">
            <a:spAutoFit/>
          </a:bodyPr>
          <a:lstStyle/>
          <a:p>
            <a:pPr algn="l">
              <a:spcAft>
                <a:spcPts val="600"/>
              </a:spcAft>
            </a:pPr>
            <a:r>
              <a:rPr sz="1900" b="0" i="0">
                <a:solidFill>
                  <a:srgbClr val="1A2744"/>
                </a:solidFill>
                <a:latin typeface="Arial"/>
              </a:rPr>
              <a:t>Requirements and acceptance criteria</a:t>
            </a:r>
          </a:p>
        </p:txBody>
      </p:sp>
      <p:sp>
        <p:nvSpPr>
          <p:cNvPr id="7" name="Rounded Rectangle 6"/>
          <p:cNvSpPr/>
          <p:nvPr/>
        </p:nvSpPr>
        <p:spPr>
          <a:xfrm>
            <a:off x="6172200" y="1417320"/>
            <a:ext cx="5349240" cy="219456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00200"/>
            <a:ext cx="4846320" cy="502920"/>
          </a:xfrm>
          <a:prstGeom prst="rect">
            <a:avLst/>
          </a:prstGeom>
          <a:noFill/>
        </p:spPr>
        <p:txBody>
          <a:bodyPr wrap="square" lIns="45720" rIns="45720" anchor="t">
            <a:spAutoFit/>
          </a:bodyPr>
          <a:lstStyle/>
          <a:p>
            <a:pPr algn="l">
              <a:spcAft>
                <a:spcPts val="600"/>
              </a:spcAft>
            </a:pPr>
            <a:r>
              <a:rPr sz="2600" b="1" i="0">
                <a:solidFill>
                  <a:srgbClr val="0D1B3E"/>
                </a:solidFill>
                <a:latin typeface="Arial"/>
              </a:rPr>
              <a:t>Owner</a:t>
            </a:r>
          </a:p>
        </p:txBody>
      </p:sp>
      <p:sp>
        <p:nvSpPr>
          <p:cNvPr id="9" name="TextBox 8"/>
          <p:cNvSpPr txBox="1"/>
          <p:nvPr/>
        </p:nvSpPr>
        <p:spPr>
          <a:xfrm>
            <a:off x="6446520" y="2148840"/>
            <a:ext cx="4846320" cy="457200"/>
          </a:xfrm>
          <a:prstGeom prst="rect">
            <a:avLst/>
          </a:prstGeom>
          <a:noFill/>
        </p:spPr>
        <p:txBody>
          <a:bodyPr wrap="square" lIns="45720" rIns="45720" anchor="t">
            <a:spAutoFit/>
          </a:bodyPr>
          <a:lstStyle/>
          <a:p>
            <a:pPr algn="l">
              <a:spcAft>
                <a:spcPts val="600"/>
              </a:spcAft>
            </a:pPr>
            <a:r>
              <a:rPr sz="1600" b="0" i="1">
                <a:solidFill>
                  <a:srgbClr val="6B7A90"/>
                </a:solidFill>
                <a:latin typeface="Arial"/>
              </a:rPr>
              <a:t>Dev with no license or a used-up limit</a:t>
            </a:r>
          </a:p>
        </p:txBody>
      </p:sp>
      <p:sp>
        <p:nvSpPr>
          <p:cNvPr id="10" name="TextBox 9"/>
          <p:cNvSpPr txBox="1"/>
          <p:nvPr/>
        </p:nvSpPr>
        <p:spPr>
          <a:xfrm>
            <a:off x="6446520" y="2606040"/>
            <a:ext cx="4846320" cy="822960"/>
          </a:xfrm>
          <a:prstGeom prst="rect">
            <a:avLst/>
          </a:prstGeom>
          <a:noFill/>
        </p:spPr>
        <p:txBody>
          <a:bodyPr wrap="square" lIns="45720" rIns="45720" anchor="t">
            <a:spAutoFit/>
          </a:bodyPr>
          <a:lstStyle/>
          <a:p>
            <a:pPr algn="l">
              <a:spcAft>
                <a:spcPts val="600"/>
              </a:spcAft>
            </a:pPr>
            <a:r>
              <a:rPr sz="1900" b="0" i="0">
                <a:solidFill>
                  <a:srgbClr val="1A2744"/>
                </a:solidFill>
                <a:latin typeface="Arial"/>
              </a:rPr>
              <a:t>Writes the task, validates, final commit and PR</a:t>
            </a:r>
          </a:p>
        </p:txBody>
      </p:sp>
      <p:sp>
        <p:nvSpPr>
          <p:cNvPr id="11" name="Rounded Rectangle 10"/>
          <p:cNvSpPr/>
          <p:nvPr/>
        </p:nvSpPr>
        <p:spPr>
          <a:xfrm>
            <a:off x="640080" y="3840480"/>
            <a:ext cx="5349240" cy="2194560"/>
          </a:xfrm>
          <a:prstGeom prst="roundRect">
            <a:avLst>
              <a:gd name="adj" fmla="val 8000"/>
            </a:avLst>
          </a:prstGeom>
          <a:solidFill>
            <a:srgbClr val="FFF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4846320" cy="502920"/>
          </a:xfrm>
          <a:prstGeom prst="rect">
            <a:avLst/>
          </a:prstGeom>
          <a:noFill/>
        </p:spPr>
        <p:txBody>
          <a:bodyPr wrap="square" lIns="45720" rIns="45720" anchor="t">
            <a:spAutoFit/>
          </a:bodyPr>
          <a:lstStyle/>
          <a:p>
            <a:pPr algn="l">
              <a:spcAft>
                <a:spcPts val="600"/>
              </a:spcAft>
            </a:pPr>
            <a:r>
              <a:rPr sz="2600" b="1" i="0">
                <a:solidFill>
                  <a:srgbClr val="0D1B3E"/>
                </a:solidFill>
                <a:latin typeface="Arial"/>
              </a:rPr>
              <a:t>Reviewer</a:t>
            </a:r>
          </a:p>
        </p:txBody>
      </p:sp>
      <p:sp>
        <p:nvSpPr>
          <p:cNvPr id="13" name="TextBox 12"/>
          <p:cNvSpPr txBox="1"/>
          <p:nvPr/>
        </p:nvSpPr>
        <p:spPr>
          <a:xfrm>
            <a:off x="914400" y="4572000"/>
            <a:ext cx="4846320" cy="457200"/>
          </a:xfrm>
          <a:prstGeom prst="rect">
            <a:avLst/>
          </a:prstGeom>
          <a:noFill/>
        </p:spPr>
        <p:txBody>
          <a:bodyPr wrap="square" lIns="45720" rIns="45720" anchor="t">
            <a:spAutoFit/>
          </a:bodyPr>
          <a:lstStyle/>
          <a:p>
            <a:pPr algn="l">
              <a:spcAft>
                <a:spcPts val="600"/>
              </a:spcAft>
            </a:pPr>
            <a:r>
              <a:rPr sz="1600" b="0" i="1">
                <a:solidFill>
                  <a:srgbClr val="6B7A90"/>
                </a:solidFill>
                <a:latin typeface="Arial"/>
              </a:rPr>
              <a:t>Architect, tech lead or another dev</a:t>
            </a:r>
          </a:p>
        </p:txBody>
      </p:sp>
      <p:sp>
        <p:nvSpPr>
          <p:cNvPr id="14" name="TextBox 13"/>
          <p:cNvSpPr txBox="1"/>
          <p:nvPr/>
        </p:nvSpPr>
        <p:spPr>
          <a:xfrm>
            <a:off x="914400" y="5029200"/>
            <a:ext cx="4846320" cy="822960"/>
          </a:xfrm>
          <a:prstGeom prst="rect">
            <a:avLst/>
          </a:prstGeom>
          <a:noFill/>
        </p:spPr>
        <p:txBody>
          <a:bodyPr wrap="square" lIns="45720" rIns="45720" anchor="t">
            <a:spAutoFit/>
          </a:bodyPr>
          <a:lstStyle/>
          <a:p>
            <a:pPr algn="l">
              <a:spcAft>
                <a:spcPts val="600"/>
              </a:spcAft>
            </a:pPr>
            <a:r>
              <a:rPr sz="1900" b="0" i="0">
                <a:solidFill>
                  <a:srgbClr val="1A2744"/>
                </a:solidFill>
                <a:latin typeface="Arial"/>
              </a:rPr>
              <a:t>Approves the task before any credits are spent</a:t>
            </a:r>
          </a:p>
        </p:txBody>
      </p:sp>
      <p:sp>
        <p:nvSpPr>
          <p:cNvPr id="15" name="Rounded Rectangle 14"/>
          <p:cNvSpPr/>
          <p:nvPr/>
        </p:nvSpPr>
        <p:spPr>
          <a:xfrm>
            <a:off x="6172200" y="3840480"/>
            <a:ext cx="5349240" cy="219456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23360"/>
            <a:ext cx="4846320" cy="502920"/>
          </a:xfrm>
          <a:prstGeom prst="rect">
            <a:avLst/>
          </a:prstGeom>
          <a:noFill/>
        </p:spPr>
        <p:txBody>
          <a:bodyPr wrap="square" lIns="45720" rIns="45720" anchor="t">
            <a:spAutoFit/>
          </a:bodyPr>
          <a:lstStyle/>
          <a:p>
            <a:pPr algn="l">
              <a:spcAft>
                <a:spcPts val="600"/>
              </a:spcAft>
            </a:pPr>
            <a:r>
              <a:rPr sz="2600" b="1" i="0">
                <a:solidFill>
                  <a:srgbClr val="0D1B3E"/>
                </a:solidFill>
                <a:latin typeface="Arial"/>
              </a:rPr>
              <a:t>Delegate</a:t>
            </a:r>
          </a:p>
        </p:txBody>
      </p:sp>
      <p:sp>
        <p:nvSpPr>
          <p:cNvPr id="17" name="TextBox 16"/>
          <p:cNvSpPr txBox="1"/>
          <p:nvPr/>
        </p:nvSpPr>
        <p:spPr>
          <a:xfrm>
            <a:off x="6446520" y="4572000"/>
            <a:ext cx="4846320" cy="457200"/>
          </a:xfrm>
          <a:prstGeom prst="rect">
            <a:avLst/>
          </a:prstGeom>
          <a:noFill/>
        </p:spPr>
        <p:txBody>
          <a:bodyPr wrap="square" lIns="45720" rIns="45720" anchor="t">
            <a:spAutoFit/>
          </a:bodyPr>
          <a:lstStyle/>
          <a:p>
            <a:pPr algn="l">
              <a:spcAft>
                <a:spcPts val="600"/>
              </a:spcAft>
            </a:pPr>
            <a:r>
              <a:rPr sz="1600" b="0" i="1">
                <a:solidFill>
                  <a:srgbClr val="6B7A90"/>
                </a:solidFill>
                <a:latin typeface="Arial"/>
              </a:rPr>
              <a:t>Dev with Copilot credits to spare</a:t>
            </a:r>
          </a:p>
        </p:txBody>
      </p:sp>
      <p:sp>
        <p:nvSpPr>
          <p:cNvPr id="18" name="TextBox 17"/>
          <p:cNvSpPr txBox="1"/>
          <p:nvPr/>
        </p:nvSpPr>
        <p:spPr>
          <a:xfrm>
            <a:off x="6446520" y="5029200"/>
            <a:ext cx="4846320" cy="822960"/>
          </a:xfrm>
          <a:prstGeom prst="rect">
            <a:avLst/>
          </a:prstGeom>
          <a:noFill/>
        </p:spPr>
        <p:txBody>
          <a:bodyPr wrap="square" lIns="45720" rIns="45720" anchor="t">
            <a:spAutoFit/>
          </a:bodyPr>
          <a:lstStyle/>
          <a:p>
            <a:pPr algn="l">
              <a:spcAft>
                <a:spcPts val="600"/>
              </a:spcAft>
            </a:pPr>
            <a:r>
              <a:rPr sz="1900" b="0" i="0">
                <a:solidFill>
                  <a:srgbClr val="1A2744"/>
                </a:solidFill>
                <a:latin typeface="Arial"/>
              </a:rPr>
              <a:t>Implements with Copilot, including tests and docs</a:t>
            </a:r>
          </a:p>
        </p:txBody>
      </p:sp>
      <p:sp>
        <p:nvSpPr>
          <p:cNvPr id="19" name="TextBox 18"/>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The flow</a:t>
            </a:r>
          </a:p>
        </p:txBody>
      </p:sp>
      <p:pic>
        <p:nvPicPr>
          <p:cNvPr id="3" name="Picture 2" descr="delegation-flow.png"/>
          <p:cNvPicPr>
            <a:picLocks noChangeAspect="1"/>
          </p:cNvPicPr>
          <p:nvPr/>
        </p:nvPicPr>
        <p:blipFill>
          <a:blip r:embed="rId2"/>
          <a:stretch>
            <a:fillRect/>
          </a:stretch>
        </p:blipFill>
        <p:spPr>
          <a:xfrm>
            <a:off x="457200" y="2213414"/>
            <a:ext cx="11274552" cy="3437012"/>
          </a:xfrm>
          <a:prstGeom prst="rect">
            <a:avLst/>
          </a:prstGeom>
        </p:spPr>
      </p:pic>
      <p:sp>
        <p:nvSpPr>
          <p:cNvPr id="4" name="TextBox 3"/>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Who talks to whom</a:t>
            </a:r>
          </a:p>
        </p:txBody>
      </p:sp>
      <p:pic>
        <p:nvPicPr>
          <p:cNvPr id="3" name="Picture 2" descr="handoff-sequence.png"/>
          <p:cNvPicPr>
            <a:picLocks noChangeAspect="1"/>
          </p:cNvPicPr>
          <p:nvPr/>
        </p:nvPicPr>
        <p:blipFill>
          <a:blip r:embed="rId2"/>
          <a:stretch>
            <a:fillRect/>
          </a:stretch>
        </p:blipFill>
        <p:spPr>
          <a:xfrm>
            <a:off x="640080" y="1353892"/>
            <a:ext cx="10881360" cy="5156056"/>
          </a:xfrm>
          <a:prstGeom prst="rect">
            <a:avLst/>
          </a:prstGeom>
        </p:spPr>
      </p:pic>
      <p:sp>
        <p:nvSpPr>
          <p:cNvPr id="4" name="TextBox 3"/>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Anatomy of a task file</a:t>
            </a:r>
          </a:p>
        </p:txBody>
      </p:sp>
      <p:sp>
        <p:nvSpPr>
          <p:cNvPr id="3" name="Rounded Rectangle 2"/>
          <p:cNvSpPr/>
          <p:nvPr/>
        </p:nvSpPr>
        <p:spPr>
          <a:xfrm>
            <a:off x="640080" y="1325880"/>
            <a:ext cx="7589520" cy="5120640"/>
          </a:xfrm>
          <a:prstGeom prst="roundRect">
            <a:avLst>
              <a:gd name="adj" fmla="val 8000"/>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7315200" cy="4846320"/>
          </a:xfrm>
          <a:prstGeom prst="rect">
            <a:avLst/>
          </a:prstGeom>
          <a:noFill/>
        </p:spPr>
        <p:txBody>
          <a:bodyPr wrap="square" lIns="45720" rIns="45720" anchor="t">
            <a:spAutoFit/>
          </a:bodyPr>
          <a:lstStyle/>
          <a:p>
            <a:pPr algn="l">
              <a:spcAft>
                <a:spcPts val="0"/>
              </a:spcAft>
            </a:pPr>
            <a:r>
              <a:rPr sz="1400" b="0" i="0">
                <a:solidFill>
                  <a:srgbClr val="D8E4F0"/>
                </a:solidFill>
                <a:latin typeface="Courier New"/>
              </a:rPr>
              <a:t># TASK-042: Generate order summary report</a:t>
            </a:r>
          </a:p>
          <a:p>
            <a:pPr algn="l">
              <a:spcAft>
                <a:spcPts val="0"/>
              </a:spcAft>
            </a:pPr>
            <a:r>
              <a:rPr sz="1400" b="0" i="0">
                <a:solidFill>
                  <a:srgbClr val="D8E4F0"/>
                </a:solidFill>
                <a:latin typeface="Courier New"/>
              </a:rPr>
              <a:t>Status: Approved  Owner: &lt;name&gt;  Reviewer: &lt;name&gt;  Delegate: &lt;name&gt;</a:t>
            </a:r>
          </a:p>
          <a:p>
            <a:pPr algn="l">
              <a:spcAft>
                <a:spcPts val="0"/>
              </a:spcAft>
            </a:pPr>
          </a:p>
          <a:p>
            <a:pPr algn="l">
              <a:spcAft>
                <a:spcPts val="0"/>
              </a:spcAft>
            </a:pPr>
            <a:r>
              <a:rPr sz="1400" b="0" i="0">
                <a:solidFill>
                  <a:srgbClr val="D8E4F0"/>
                </a:solidFill>
                <a:latin typeface="Courier New"/>
              </a:rPr>
              <a:t>## Objective</a:t>
            </a:r>
          </a:p>
          <a:p>
            <a:pPr algn="l">
              <a:spcAft>
                <a:spcPts val="0"/>
              </a:spcAft>
            </a:pPr>
            <a:r>
              <a:rPr sz="1400" b="0" i="0">
                <a:solidFill>
                  <a:srgbClr val="D8E4F0"/>
                </a:solidFill>
                <a:latin typeface="Courier New"/>
              </a:rPr>
              <a:t>Generate the order summary report from normalized order records.</a:t>
            </a:r>
          </a:p>
          <a:p>
            <a:pPr algn="l">
              <a:spcAft>
                <a:spcPts val="0"/>
              </a:spcAft>
            </a:pPr>
          </a:p>
          <a:p>
            <a:pPr algn="l">
              <a:spcAft>
                <a:spcPts val="0"/>
              </a:spcAft>
            </a:pPr>
            <a:r>
              <a:rPr sz="1400" b="0" i="0">
                <a:solidFill>
                  <a:srgbClr val="D8E4F0"/>
                </a:solidFill>
                <a:latin typeface="Courier New"/>
              </a:rPr>
              <a:t>## Expected behavior</a:t>
            </a:r>
          </a:p>
          <a:p>
            <a:pPr algn="l">
              <a:spcAft>
                <a:spcPts val="0"/>
              </a:spcAft>
            </a:pPr>
            <a:r>
              <a:rPr sz="1400" b="0" i="0">
                <a:solidFill>
                  <a:srgbClr val="D8E4F0"/>
                </a:solidFill>
                <a:latin typeface="Courier New"/>
              </a:rPr>
              <a:t>1. Load the report configuration.   2. Retrieve the eligible orders.</a:t>
            </a:r>
          </a:p>
          <a:p>
            <a:pPr algn="l">
              <a:spcAft>
                <a:spcPts val="0"/>
              </a:spcAft>
            </a:pPr>
            <a:r>
              <a:rPr sz="1400" b="0" i="0">
                <a:solidFill>
                  <a:srgbClr val="D8E4F0"/>
                </a:solidFill>
                <a:latin typeface="Courier New"/>
              </a:rPr>
              <a:t>3. Generate the report.             4. Store the delivery metadata.</a:t>
            </a:r>
          </a:p>
          <a:p>
            <a:pPr algn="l">
              <a:spcAft>
                <a:spcPts val="0"/>
              </a:spcAft>
            </a:pPr>
          </a:p>
          <a:p>
            <a:pPr algn="l">
              <a:spcAft>
                <a:spcPts val="0"/>
              </a:spcAft>
            </a:pPr>
            <a:r>
              <a:rPr sz="1400" b="0" i="0">
                <a:solidFill>
                  <a:srgbClr val="D8E4F0"/>
                </a:solidFill>
                <a:latin typeface="Courier New"/>
              </a:rPr>
              <a:t>## Acceptance criteria</a:t>
            </a:r>
          </a:p>
          <a:p>
            <a:pPr algn="l">
              <a:spcAft>
                <a:spcPts val="0"/>
              </a:spcAft>
            </a:pPr>
            <a:r>
              <a:rPr sz="1400" b="0" i="0">
                <a:solidFill>
                  <a:srgbClr val="D8E4F0"/>
                </a:solidFill>
                <a:latin typeface="Courier New"/>
              </a:rPr>
              <a:t>- [ ] The report is generated for all eligible orders.</a:t>
            </a:r>
          </a:p>
          <a:p>
            <a:pPr algn="l">
              <a:spcAft>
                <a:spcPts val="0"/>
              </a:spcAft>
            </a:pPr>
            <a:r>
              <a:rPr sz="1400" b="0" i="0">
                <a:solidFill>
                  <a:srgbClr val="D8E4F0"/>
                </a:solidFill>
                <a:latin typeface="Courier New"/>
              </a:rPr>
              <a:t>- [ ] The job can be restarted after a failure.</a:t>
            </a:r>
          </a:p>
          <a:p>
            <a:pPr algn="l">
              <a:spcAft>
                <a:spcPts val="0"/>
              </a:spcAft>
            </a:pPr>
            <a:r>
              <a:rPr sz="1400" b="0" i="0">
                <a:solidFill>
                  <a:srgbClr val="D8E4F0"/>
                </a:solidFill>
                <a:latin typeface="Courier New"/>
              </a:rPr>
              <a:t>- [ ] A failed run is recorded.</a:t>
            </a:r>
          </a:p>
          <a:p>
            <a:pPr algn="l">
              <a:spcAft>
                <a:spcPts val="0"/>
              </a:spcAft>
            </a:pPr>
          </a:p>
          <a:p>
            <a:pPr algn="l">
              <a:spcAft>
                <a:spcPts val="0"/>
              </a:spcAft>
            </a:pPr>
            <a:r>
              <a:rPr sz="1400" b="0" i="0">
                <a:solidFill>
                  <a:srgbClr val="D8E4F0"/>
                </a:solidFill>
                <a:latin typeface="Courier New"/>
              </a:rPr>
              <a:t>## Out of scope</a:t>
            </a:r>
          </a:p>
          <a:p>
            <a:pPr algn="l">
              <a:spcAft>
                <a:spcPts val="0"/>
              </a:spcAft>
            </a:pPr>
            <a:r>
              <a:rPr sz="1400" b="0" i="0">
                <a:solidFill>
                  <a:srgbClr val="D8E4F0"/>
                </a:solidFill>
                <a:latin typeface="Courier New"/>
              </a:rPr>
              <a:t>- File transport, customer notification</a:t>
            </a:r>
          </a:p>
          <a:p>
            <a:pPr algn="l">
              <a:spcAft>
                <a:spcPts val="0"/>
              </a:spcAft>
            </a:pPr>
          </a:p>
          <a:p>
            <a:pPr algn="l">
              <a:spcAft>
                <a:spcPts val="0"/>
              </a:spcAft>
            </a:pPr>
            <a:r>
              <a:rPr sz="1400" b="0" i="0">
                <a:solidFill>
                  <a:srgbClr val="D8E4F0"/>
                </a:solidFill>
                <a:latin typeface="Courier New"/>
              </a:rPr>
              <a:t>## Implementation notes   (filled in by the delegate at handback)</a:t>
            </a:r>
          </a:p>
        </p:txBody>
      </p:sp>
      <p:sp>
        <p:nvSpPr>
          <p:cNvPr id="5" name="Rounded Rectangle 4"/>
          <p:cNvSpPr/>
          <p:nvPr/>
        </p:nvSpPr>
        <p:spPr>
          <a:xfrm>
            <a:off x="8458200" y="1325880"/>
            <a:ext cx="3108960" cy="118872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0" y="1490472"/>
            <a:ext cx="2651760" cy="320040"/>
          </a:xfrm>
          <a:prstGeom prst="rect">
            <a:avLst/>
          </a:prstGeom>
          <a:noFill/>
        </p:spPr>
        <p:txBody>
          <a:bodyPr wrap="square" lIns="45720" rIns="45720" anchor="t">
            <a:spAutoFit/>
          </a:bodyPr>
          <a:lstStyle/>
          <a:p>
            <a:pPr algn="l">
              <a:spcAft>
                <a:spcPts val="600"/>
              </a:spcAft>
            </a:pPr>
            <a:r>
              <a:rPr sz="1700" b="1" i="0">
                <a:solidFill>
                  <a:srgbClr val="0D1B3E"/>
                </a:solidFill>
                <a:latin typeface="Arial"/>
              </a:rPr>
              <a:t>Concrete steps</a:t>
            </a:r>
          </a:p>
        </p:txBody>
      </p:sp>
      <p:sp>
        <p:nvSpPr>
          <p:cNvPr id="7" name="TextBox 6"/>
          <p:cNvSpPr txBox="1"/>
          <p:nvPr/>
        </p:nvSpPr>
        <p:spPr>
          <a:xfrm>
            <a:off x="8686800" y="1828800"/>
            <a:ext cx="2651760" cy="594360"/>
          </a:xfrm>
          <a:prstGeom prst="rect">
            <a:avLst/>
          </a:prstGeom>
          <a:noFill/>
        </p:spPr>
        <p:txBody>
          <a:bodyPr wrap="square" lIns="45720" rIns="45720" anchor="t">
            <a:spAutoFit/>
          </a:bodyPr>
          <a:lstStyle/>
          <a:p>
            <a:pPr algn="l">
              <a:spcAft>
                <a:spcPts val="400"/>
              </a:spcAft>
            </a:pPr>
            <a:r>
              <a:rPr sz="1400" b="0" i="0">
                <a:solidFill>
                  <a:srgbClr val="1A2744"/>
                </a:solidFill>
                <a:latin typeface="Arial"/>
              </a:rPr>
              <a:t>Each behavior is a step Copilot can follow.</a:t>
            </a:r>
          </a:p>
        </p:txBody>
      </p:sp>
      <p:sp>
        <p:nvSpPr>
          <p:cNvPr id="8" name="Rounded Rectangle 7"/>
          <p:cNvSpPr/>
          <p:nvPr/>
        </p:nvSpPr>
        <p:spPr>
          <a:xfrm>
            <a:off x="8458200" y="2633472"/>
            <a:ext cx="3108960" cy="118872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2798064"/>
            <a:ext cx="2651760" cy="320040"/>
          </a:xfrm>
          <a:prstGeom prst="rect">
            <a:avLst/>
          </a:prstGeom>
          <a:noFill/>
        </p:spPr>
        <p:txBody>
          <a:bodyPr wrap="square" lIns="45720" rIns="45720" anchor="t">
            <a:spAutoFit/>
          </a:bodyPr>
          <a:lstStyle/>
          <a:p>
            <a:pPr algn="l">
              <a:spcAft>
                <a:spcPts val="600"/>
              </a:spcAft>
            </a:pPr>
            <a:r>
              <a:rPr sz="1700" b="1" i="0">
                <a:solidFill>
                  <a:srgbClr val="0D1B3E"/>
                </a:solidFill>
                <a:latin typeface="Arial"/>
              </a:rPr>
              <a:t>Checkable criteria</a:t>
            </a:r>
          </a:p>
        </p:txBody>
      </p:sp>
      <p:sp>
        <p:nvSpPr>
          <p:cNvPr id="10" name="TextBox 9"/>
          <p:cNvSpPr txBox="1"/>
          <p:nvPr/>
        </p:nvSpPr>
        <p:spPr>
          <a:xfrm>
            <a:off x="8686800" y="3136392"/>
            <a:ext cx="2651760" cy="594360"/>
          </a:xfrm>
          <a:prstGeom prst="rect">
            <a:avLst/>
          </a:prstGeom>
          <a:noFill/>
        </p:spPr>
        <p:txBody>
          <a:bodyPr wrap="square" lIns="45720" rIns="45720" anchor="t">
            <a:spAutoFit/>
          </a:bodyPr>
          <a:lstStyle/>
          <a:p>
            <a:pPr algn="l">
              <a:spcAft>
                <a:spcPts val="400"/>
              </a:spcAft>
            </a:pPr>
            <a:r>
              <a:rPr sz="1400" b="0" i="0">
                <a:solidFill>
                  <a:srgbClr val="1A2744"/>
                </a:solidFill>
                <a:latin typeface="Arial"/>
              </a:rPr>
              <a:t>Each one maps to a test or a visible result.</a:t>
            </a:r>
          </a:p>
        </p:txBody>
      </p:sp>
      <p:sp>
        <p:nvSpPr>
          <p:cNvPr id="11" name="Rounded Rectangle 10"/>
          <p:cNvSpPr/>
          <p:nvPr/>
        </p:nvSpPr>
        <p:spPr>
          <a:xfrm>
            <a:off x="8458200" y="3941064"/>
            <a:ext cx="3108960" cy="118872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4105656"/>
            <a:ext cx="2651760" cy="320040"/>
          </a:xfrm>
          <a:prstGeom prst="rect">
            <a:avLst/>
          </a:prstGeom>
          <a:noFill/>
        </p:spPr>
        <p:txBody>
          <a:bodyPr wrap="square" lIns="45720" rIns="45720" anchor="t">
            <a:spAutoFit/>
          </a:bodyPr>
          <a:lstStyle/>
          <a:p>
            <a:pPr algn="l">
              <a:spcAft>
                <a:spcPts val="600"/>
              </a:spcAft>
            </a:pPr>
            <a:r>
              <a:rPr sz="1700" b="1" i="0">
                <a:solidFill>
                  <a:srgbClr val="0D1B3E"/>
                </a:solidFill>
                <a:latin typeface="Arial"/>
              </a:rPr>
              <a:t>Out of scope</a:t>
            </a:r>
          </a:p>
        </p:txBody>
      </p:sp>
      <p:sp>
        <p:nvSpPr>
          <p:cNvPr id="13" name="TextBox 12"/>
          <p:cNvSpPr txBox="1"/>
          <p:nvPr/>
        </p:nvSpPr>
        <p:spPr>
          <a:xfrm>
            <a:off x="8686800" y="4443984"/>
            <a:ext cx="2651760" cy="594360"/>
          </a:xfrm>
          <a:prstGeom prst="rect">
            <a:avLst/>
          </a:prstGeom>
          <a:noFill/>
        </p:spPr>
        <p:txBody>
          <a:bodyPr wrap="square" lIns="45720" rIns="45720" anchor="t">
            <a:spAutoFit/>
          </a:bodyPr>
          <a:lstStyle/>
          <a:p>
            <a:pPr algn="l">
              <a:spcAft>
                <a:spcPts val="400"/>
              </a:spcAft>
            </a:pPr>
            <a:r>
              <a:rPr sz="1400" b="0" i="0">
                <a:solidFill>
                  <a:srgbClr val="1A2744"/>
                </a:solidFill>
                <a:latin typeface="Arial"/>
              </a:rPr>
              <a:t>Stops Copilot wandering into unrequested work.</a:t>
            </a:r>
          </a:p>
        </p:txBody>
      </p:sp>
      <p:sp>
        <p:nvSpPr>
          <p:cNvPr id="14" name="Rounded Rectangle 13"/>
          <p:cNvSpPr/>
          <p:nvPr/>
        </p:nvSpPr>
        <p:spPr>
          <a:xfrm>
            <a:off x="8458200" y="5248656"/>
            <a:ext cx="3108960" cy="118872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0" y="5413248"/>
            <a:ext cx="2651760" cy="320040"/>
          </a:xfrm>
          <a:prstGeom prst="rect">
            <a:avLst/>
          </a:prstGeom>
          <a:noFill/>
        </p:spPr>
        <p:txBody>
          <a:bodyPr wrap="square" lIns="45720" rIns="45720" anchor="t">
            <a:spAutoFit/>
          </a:bodyPr>
          <a:lstStyle/>
          <a:p>
            <a:pPr algn="l">
              <a:spcAft>
                <a:spcPts val="600"/>
              </a:spcAft>
            </a:pPr>
            <a:r>
              <a:rPr sz="1700" b="1" i="0">
                <a:solidFill>
                  <a:srgbClr val="0D1B3E"/>
                </a:solidFill>
                <a:latin typeface="Arial"/>
              </a:rPr>
              <a:t>Notes at handback</a:t>
            </a:r>
          </a:p>
        </p:txBody>
      </p:sp>
      <p:sp>
        <p:nvSpPr>
          <p:cNvPr id="16" name="TextBox 15"/>
          <p:cNvSpPr txBox="1"/>
          <p:nvPr/>
        </p:nvSpPr>
        <p:spPr>
          <a:xfrm>
            <a:off x="8686800" y="5751576"/>
            <a:ext cx="2651760" cy="594360"/>
          </a:xfrm>
          <a:prstGeom prst="rect">
            <a:avLst/>
          </a:prstGeom>
          <a:noFill/>
        </p:spPr>
        <p:txBody>
          <a:bodyPr wrap="square" lIns="45720" rIns="45720" anchor="t">
            <a:spAutoFit/>
          </a:bodyPr>
          <a:lstStyle/>
          <a:p>
            <a:pPr algn="l">
              <a:spcAft>
                <a:spcPts val="400"/>
              </a:spcAft>
            </a:pPr>
            <a:r>
              <a:rPr sz="1400" b="0" i="0">
                <a:solidFill>
                  <a:srgbClr val="1A2744"/>
                </a:solidFill>
                <a:latin typeface="Arial"/>
              </a:rPr>
              <a:t>Knowledge comes back into the repo.</a:t>
            </a:r>
          </a:p>
        </p:txBody>
      </p:sp>
      <p:sp>
        <p:nvSpPr>
          <p:cNvPr id="17" name="TextBox 16"/>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Definition of ready</a:t>
            </a:r>
          </a:p>
        </p:txBody>
      </p:sp>
      <p:sp>
        <p:nvSpPr>
          <p:cNvPr id="3" name="TextBox 2"/>
          <p:cNvSpPr txBox="1"/>
          <p:nvPr/>
        </p:nvSpPr>
        <p:spPr>
          <a:xfrm>
            <a:off x="640080" y="1234440"/>
            <a:ext cx="10881360" cy="457200"/>
          </a:xfrm>
          <a:prstGeom prst="rect">
            <a:avLst/>
          </a:prstGeom>
          <a:noFill/>
        </p:spPr>
        <p:txBody>
          <a:bodyPr wrap="square" lIns="45720" rIns="45720" anchor="t">
            <a:spAutoFit/>
          </a:bodyPr>
          <a:lstStyle/>
          <a:p>
            <a:pPr algn="l">
              <a:spcAft>
                <a:spcPts val="600"/>
              </a:spcAft>
            </a:pPr>
            <a:r>
              <a:rPr sz="2000" b="0" i="0">
                <a:solidFill>
                  <a:srgbClr val="6B7A90"/>
                </a:solidFill>
                <a:latin typeface="Arial"/>
              </a:rPr>
              <a:t>The reviewer approves only when </a:t>
            </a:r>
            <a:r>
              <a:rPr sz="2000" b="1" i="0">
                <a:solidFill>
                  <a:srgbClr val="6B7A90"/>
                </a:solidFill>
                <a:latin typeface="Arial"/>
              </a:rPr>
              <a:t>all</a:t>
            </a:r>
            <a:r>
              <a:rPr sz="2000" b="0" i="0">
                <a:solidFill>
                  <a:srgbClr val="6B7A90"/>
                </a:solidFill>
                <a:latin typeface="Arial"/>
              </a:rPr>
              <a:t> of these hold:</a:t>
            </a:r>
          </a:p>
        </p:txBody>
      </p:sp>
      <p:sp>
        <p:nvSpPr>
          <p:cNvPr id="4" name="Rounded Rectangle 3"/>
          <p:cNvSpPr/>
          <p:nvPr/>
        </p:nvSpPr>
        <p:spPr>
          <a:xfrm>
            <a:off x="640080" y="1920240"/>
            <a:ext cx="5349240" cy="91440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214884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48840"/>
            <a:ext cx="457200" cy="457200"/>
          </a:xfrm>
          <a:prstGeom prst="rect">
            <a:avLst/>
          </a:prstGeom>
          <a:noFill/>
        </p:spPr>
        <p:txBody>
          <a:bodyPr wrap="square" lIns="45720" rIns="45720" anchor="ctr">
            <a:spAutoFit/>
          </a:bodyPr>
          <a:lstStyle/>
          <a:p>
            <a:pPr algn="ctr">
              <a:spcAft>
                <a:spcPts val="600"/>
              </a:spcAft>
            </a:pPr>
            <a:r>
              <a:rPr sz="1800" b="1" i="0">
                <a:solidFill>
                  <a:srgbClr val="FFFFFF"/>
                </a:solidFill>
                <a:latin typeface="Arial"/>
              </a:rPr>
              <a:t>✓</a:t>
            </a:r>
          </a:p>
        </p:txBody>
      </p:sp>
      <p:sp>
        <p:nvSpPr>
          <p:cNvPr id="7" name="TextBox 6"/>
          <p:cNvSpPr txBox="1"/>
          <p:nvPr/>
        </p:nvSpPr>
        <p:spPr>
          <a:xfrm>
            <a:off x="1463040" y="1920240"/>
            <a:ext cx="4389120" cy="91440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Objective fits in one or two sentences</a:t>
            </a:r>
          </a:p>
        </p:txBody>
      </p:sp>
      <p:sp>
        <p:nvSpPr>
          <p:cNvPr id="8" name="Rounded Rectangle 7"/>
          <p:cNvSpPr/>
          <p:nvPr/>
        </p:nvSpPr>
        <p:spPr>
          <a:xfrm>
            <a:off x="640080" y="2999232"/>
            <a:ext cx="5349240" cy="91440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22783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227832"/>
            <a:ext cx="457200" cy="457200"/>
          </a:xfrm>
          <a:prstGeom prst="rect">
            <a:avLst/>
          </a:prstGeom>
          <a:noFill/>
        </p:spPr>
        <p:txBody>
          <a:bodyPr wrap="square" lIns="45720" rIns="45720" anchor="ctr">
            <a:spAutoFit/>
          </a:bodyPr>
          <a:lstStyle/>
          <a:p>
            <a:pPr algn="ctr">
              <a:spcAft>
                <a:spcPts val="600"/>
              </a:spcAft>
            </a:pPr>
            <a:r>
              <a:rPr sz="1800" b="1" i="0">
                <a:solidFill>
                  <a:srgbClr val="FFFFFF"/>
                </a:solidFill>
                <a:latin typeface="Arial"/>
              </a:rPr>
              <a:t>✓</a:t>
            </a:r>
          </a:p>
        </p:txBody>
      </p:sp>
      <p:sp>
        <p:nvSpPr>
          <p:cNvPr id="11" name="TextBox 10"/>
          <p:cNvSpPr txBox="1"/>
          <p:nvPr/>
        </p:nvSpPr>
        <p:spPr>
          <a:xfrm>
            <a:off x="1463040" y="2999232"/>
            <a:ext cx="4389120" cy="91440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Each expected behavior is a </a:t>
            </a:r>
            <a:r>
              <a:rPr sz="1800" b="1" i="0">
                <a:solidFill>
                  <a:srgbClr val="1A2744"/>
                </a:solidFill>
                <a:latin typeface="Arial"/>
              </a:rPr>
              <a:t>concrete step</a:t>
            </a:r>
          </a:p>
        </p:txBody>
      </p:sp>
      <p:sp>
        <p:nvSpPr>
          <p:cNvPr id="12" name="Rounded Rectangle 11"/>
          <p:cNvSpPr/>
          <p:nvPr/>
        </p:nvSpPr>
        <p:spPr>
          <a:xfrm>
            <a:off x="640080" y="4078224"/>
            <a:ext cx="5349240" cy="91440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4306824"/>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306824"/>
            <a:ext cx="457200" cy="457200"/>
          </a:xfrm>
          <a:prstGeom prst="rect">
            <a:avLst/>
          </a:prstGeom>
          <a:noFill/>
        </p:spPr>
        <p:txBody>
          <a:bodyPr wrap="square" lIns="45720" rIns="45720" anchor="ctr">
            <a:spAutoFit/>
          </a:bodyPr>
          <a:lstStyle/>
          <a:p>
            <a:pPr algn="ctr">
              <a:spcAft>
                <a:spcPts val="600"/>
              </a:spcAft>
            </a:pPr>
            <a:r>
              <a:rPr sz="1800" b="1" i="0">
                <a:solidFill>
                  <a:srgbClr val="FFFFFF"/>
                </a:solidFill>
                <a:latin typeface="Arial"/>
              </a:rPr>
              <a:t>✓</a:t>
            </a:r>
          </a:p>
        </p:txBody>
      </p:sp>
      <p:sp>
        <p:nvSpPr>
          <p:cNvPr id="15" name="TextBox 14"/>
          <p:cNvSpPr txBox="1"/>
          <p:nvPr/>
        </p:nvSpPr>
        <p:spPr>
          <a:xfrm>
            <a:off x="1463040" y="4078224"/>
            <a:ext cx="4389120" cy="91440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Each acceptance criterion is </a:t>
            </a:r>
            <a:r>
              <a:rPr sz="1800" b="1" i="0">
                <a:solidFill>
                  <a:srgbClr val="1A2744"/>
                </a:solidFill>
                <a:latin typeface="Arial"/>
              </a:rPr>
              <a:t>checkable</a:t>
            </a:r>
          </a:p>
        </p:txBody>
      </p:sp>
      <p:sp>
        <p:nvSpPr>
          <p:cNvPr id="16" name="Rounded Rectangle 15"/>
          <p:cNvSpPr/>
          <p:nvPr/>
        </p:nvSpPr>
        <p:spPr>
          <a:xfrm>
            <a:off x="640080" y="5157216"/>
            <a:ext cx="5349240" cy="91440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385816"/>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385816"/>
            <a:ext cx="457200" cy="457200"/>
          </a:xfrm>
          <a:prstGeom prst="rect">
            <a:avLst/>
          </a:prstGeom>
          <a:noFill/>
        </p:spPr>
        <p:txBody>
          <a:bodyPr wrap="square" lIns="45720" rIns="45720" anchor="ctr">
            <a:spAutoFit/>
          </a:bodyPr>
          <a:lstStyle/>
          <a:p>
            <a:pPr algn="ctr">
              <a:spcAft>
                <a:spcPts val="600"/>
              </a:spcAft>
            </a:pPr>
            <a:r>
              <a:rPr sz="1800" b="1" i="0">
                <a:solidFill>
                  <a:srgbClr val="FFFFFF"/>
                </a:solidFill>
                <a:latin typeface="Arial"/>
              </a:rPr>
              <a:t>✓</a:t>
            </a:r>
          </a:p>
        </p:txBody>
      </p:sp>
      <p:sp>
        <p:nvSpPr>
          <p:cNvPr id="19" name="TextBox 18"/>
          <p:cNvSpPr txBox="1"/>
          <p:nvPr/>
        </p:nvSpPr>
        <p:spPr>
          <a:xfrm>
            <a:off x="1463040" y="5157216"/>
            <a:ext cx="4389120" cy="914400"/>
          </a:xfrm>
          <a:prstGeom prst="rect">
            <a:avLst/>
          </a:prstGeom>
          <a:noFill/>
        </p:spPr>
        <p:txBody>
          <a:bodyPr wrap="square" lIns="45720" rIns="45720" anchor="ctr">
            <a:spAutoFit/>
          </a:bodyPr>
          <a:lstStyle/>
          <a:p>
            <a:pPr algn="l">
              <a:spcAft>
                <a:spcPts val="600"/>
              </a:spcAft>
            </a:pPr>
            <a:r>
              <a:rPr sz="1800" b="1" i="0">
                <a:solidFill>
                  <a:srgbClr val="1A2744"/>
                </a:solidFill>
                <a:latin typeface="Arial"/>
              </a:rPr>
              <a:t>Out of scope</a:t>
            </a:r>
            <a:r>
              <a:rPr sz="1800" b="0" i="0">
                <a:solidFill>
                  <a:srgbClr val="1A2744"/>
                </a:solidFill>
                <a:latin typeface="Arial"/>
              </a:rPr>
              <a:t> is listed</a:t>
            </a:r>
          </a:p>
        </p:txBody>
      </p:sp>
      <p:sp>
        <p:nvSpPr>
          <p:cNvPr id="20" name="Rounded Rectangle 19"/>
          <p:cNvSpPr/>
          <p:nvPr/>
        </p:nvSpPr>
        <p:spPr>
          <a:xfrm>
            <a:off x="6172200" y="1920240"/>
            <a:ext cx="5349240" cy="91440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55080" y="2148840"/>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148840"/>
            <a:ext cx="457200" cy="457200"/>
          </a:xfrm>
          <a:prstGeom prst="rect">
            <a:avLst/>
          </a:prstGeom>
          <a:noFill/>
        </p:spPr>
        <p:txBody>
          <a:bodyPr wrap="square" lIns="45720" rIns="45720" anchor="ctr">
            <a:spAutoFit/>
          </a:bodyPr>
          <a:lstStyle/>
          <a:p>
            <a:pPr algn="ctr">
              <a:spcAft>
                <a:spcPts val="600"/>
              </a:spcAft>
            </a:pPr>
            <a:r>
              <a:rPr sz="1800" b="1" i="0">
                <a:solidFill>
                  <a:srgbClr val="FFFFFF"/>
                </a:solidFill>
                <a:latin typeface="Arial"/>
              </a:rPr>
              <a:t>✓</a:t>
            </a:r>
          </a:p>
        </p:txBody>
      </p:sp>
      <p:sp>
        <p:nvSpPr>
          <p:cNvPr id="23" name="TextBox 22"/>
          <p:cNvSpPr txBox="1"/>
          <p:nvPr/>
        </p:nvSpPr>
        <p:spPr>
          <a:xfrm>
            <a:off x="6995160" y="1920240"/>
            <a:ext cx="4389120" cy="91440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Every referenced doc </a:t>
            </a:r>
            <a:r>
              <a:rPr sz="1800" b="1" i="0">
                <a:solidFill>
                  <a:srgbClr val="1A2744"/>
                </a:solidFill>
                <a:latin typeface="Arial"/>
              </a:rPr>
              <a:t>exists and is current</a:t>
            </a:r>
          </a:p>
        </p:txBody>
      </p:sp>
      <p:sp>
        <p:nvSpPr>
          <p:cNvPr id="24" name="Rounded Rectangle 23"/>
          <p:cNvSpPr/>
          <p:nvPr/>
        </p:nvSpPr>
        <p:spPr>
          <a:xfrm>
            <a:off x="6172200" y="2999232"/>
            <a:ext cx="5349240" cy="91440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55080" y="322783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3227832"/>
            <a:ext cx="457200" cy="457200"/>
          </a:xfrm>
          <a:prstGeom prst="rect">
            <a:avLst/>
          </a:prstGeom>
          <a:noFill/>
        </p:spPr>
        <p:txBody>
          <a:bodyPr wrap="square" lIns="45720" rIns="45720" anchor="ctr">
            <a:spAutoFit/>
          </a:bodyPr>
          <a:lstStyle/>
          <a:p>
            <a:pPr algn="ctr">
              <a:spcAft>
                <a:spcPts val="600"/>
              </a:spcAft>
            </a:pPr>
            <a:r>
              <a:rPr sz="1800" b="1" i="0">
                <a:solidFill>
                  <a:srgbClr val="FFFFFF"/>
                </a:solidFill>
                <a:latin typeface="Arial"/>
              </a:rPr>
              <a:t>✓</a:t>
            </a:r>
          </a:p>
        </p:txBody>
      </p:sp>
      <p:sp>
        <p:nvSpPr>
          <p:cNvPr id="27" name="TextBox 26"/>
          <p:cNvSpPr txBox="1"/>
          <p:nvPr/>
        </p:nvSpPr>
        <p:spPr>
          <a:xfrm>
            <a:off x="6995160" y="2999232"/>
            <a:ext cx="4389120" cy="91440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Input/output </a:t>
            </a:r>
            <a:r>
              <a:rPr sz="1800" b="1" i="0">
                <a:solidFill>
                  <a:srgbClr val="1A2744"/>
                </a:solidFill>
                <a:latin typeface="Arial"/>
              </a:rPr>
              <a:t>examples</a:t>
            </a:r>
            <a:r>
              <a:rPr sz="1800" b="0" i="0">
                <a:solidFill>
                  <a:srgbClr val="1A2744"/>
                </a:solidFill>
                <a:latin typeface="Arial"/>
              </a:rPr>
              <a:t> where format matters</a:t>
            </a:r>
          </a:p>
        </p:txBody>
      </p:sp>
      <p:sp>
        <p:nvSpPr>
          <p:cNvPr id="28" name="Rounded Rectangle 27"/>
          <p:cNvSpPr/>
          <p:nvPr/>
        </p:nvSpPr>
        <p:spPr>
          <a:xfrm>
            <a:off x="6172200" y="4078224"/>
            <a:ext cx="5349240" cy="91440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55080" y="4306824"/>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55080" y="4306824"/>
            <a:ext cx="457200" cy="457200"/>
          </a:xfrm>
          <a:prstGeom prst="rect">
            <a:avLst/>
          </a:prstGeom>
          <a:noFill/>
        </p:spPr>
        <p:txBody>
          <a:bodyPr wrap="square" lIns="45720" rIns="45720" anchor="ctr">
            <a:spAutoFit/>
          </a:bodyPr>
          <a:lstStyle/>
          <a:p>
            <a:pPr algn="ctr">
              <a:spcAft>
                <a:spcPts val="600"/>
              </a:spcAft>
            </a:pPr>
            <a:r>
              <a:rPr sz="1800" b="1" i="0">
                <a:solidFill>
                  <a:srgbClr val="FFFFFF"/>
                </a:solidFill>
                <a:latin typeface="Arial"/>
              </a:rPr>
              <a:t>✓</a:t>
            </a:r>
          </a:p>
        </p:txBody>
      </p:sp>
      <p:sp>
        <p:nvSpPr>
          <p:cNvPr id="31" name="TextBox 30"/>
          <p:cNvSpPr txBox="1"/>
          <p:nvPr/>
        </p:nvSpPr>
        <p:spPr>
          <a:xfrm>
            <a:off x="6995160" y="4078224"/>
            <a:ext cx="4389120" cy="914400"/>
          </a:xfrm>
          <a:prstGeom prst="rect">
            <a:avLst/>
          </a:prstGeom>
          <a:noFill/>
        </p:spPr>
        <p:txBody>
          <a:bodyPr wrap="square" lIns="45720" rIns="45720" anchor="ctr">
            <a:spAutoFit/>
          </a:bodyPr>
          <a:lstStyle/>
          <a:p>
            <a:pPr algn="l">
              <a:spcAft>
                <a:spcPts val="600"/>
              </a:spcAft>
            </a:pPr>
            <a:r>
              <a:rPr sz="1800" b="1" i="0">
                <a:solidFill>
                  <a:srgbClr val="1A2744"/>
                </a:solidFill>
                <a:latin typeface="Arial"/>
              </a:rPr>
              <a:t>No secrets</a:t>
            </a:r>
            <a:r>
              <a:rPr sz="1800" b="0" i="0">
                <a:solidFill>
                  <a:srgbClr val="1A2744"/>
                </a:solidFill>
                <a:latin typeface="Arial"/>
              </a:rPr>
              <a:t>, credentials or production data</a:t>
            </a:r>
          </a:p>
        </p:txBody>
      </p:sp>
      <p:sp>
        <p:nvSpPr>
          <p:cNvPr id="32" name="Rounded Rectangle 31"/>
          <p:cNvSpPr/>
          <p:nvPr/>
        </p:nvSpPr>
        <p:spPr>
          <a:xfrm>
            <a:off x="6172200" y="5157216"/>
            <a:ext cx="5349240" cy="91440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55080" y="5385816"/>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5385816"/>
            <a:ext cx="457200" cy="457200"/>
          </a:xfrm>
          <a:prstGeom prst="rect">
            <a:avLst/>
          </a:prstGeom>
          <a:noFill/>
        </p:spPr>
        <p:txBody>
          <a:bodyPr wrap="square" lIns="45720" rIns="45720" anchor="ctr">
            <a:spAutoFit/>
          </a:bodyPr>
          <a:lstStyle/>
          <a:p>
            <a:pPr algn="ctr">
              <a:spcAft>
                <a:spcPts val="600"/>
              </a:spcAft>
            </a:pPr>
            <a:r>
              <a:rPr sz="1800" b="1" i="0">
                <a:solidFill>
                  <a:srgbClr val="FFFFFF"/>
                </a:solidFill>
                <a:latin typeface="Arial"/>
              </a:rPr>
              <a:t>✓</a:t>
            </a:r>
          </a:p>
        </p:txBody>
      </p:sp>
      <p:sp>
        <p:nvSpPr>
          <p:cNvPr id="35" name="TextBox 34"/>
          <p:cNvSpPr txBox="1"/>
          <p:nvPr/>
        </p:nvSpPr>
        <p:spPr>
          <a:xfrm>
            <a:off x="6995160" y="5157216"/>
            <a:ext cx="4389120" cy="91440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Fits </a:t>
            </a:r>
            <a:r>
              <a:rPr sz="1800" b="1" i="0">
                <a:solidFill>
                  <a:srgbClr val="1A2744"/>
                </a:solidFill>
                <a:latin typeface="Arial"/>
              </a:rPr>
              <a:t>one session</a:t>
            </a:r>
            <a:r>
              <a:rPr sz="1800" b="0" i="0">
                <a:solidFill>
                  <a:srgbClr val="1A2744"/>
                </a:solidFill>
                <a:latin typeface="Arial"/>
              </a:rPr>
              <a:t>: a PR reviewable in under an hour</a:t>
            </a:r>
          </a:p>
        </p:txBody>
      </p:sp>
      <p:sp>
        <p:nvSpPr>
          <p:cNvPr id="36" name="TextBox 35"/>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What to delegate, what to keep</a:t>
            </a:r>
          </a:p>
        </p:txBody>
      </p:sp>
      <p:sp>
        <p:nvSpPr>
          <p:cNvPr id="3" name="Rounded Rectangle 2"/>
          <p:cNvSpPr/>
          <p:nvPr/>
        </p:nvSpPr>
        <p:spPr>
          <a:xfrm>
            <a:off x="640080" y="1371600"/>
            <a:ext cx="5303520" cy="393192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36192"/>
            <a:ext cx="4846320" cy="475488"/>
          </a:xfrm>
          <a:prstGeom prst="rect">
            <a:avLst/>
          </a:prstGeom>
          <a:noFill/>
        </p:spPr>
        <p:txBody>
          <a:bodyPr wrap="square" lIns="45720" rIns="45720" anchor="t">
            <a:spAutoFit/>
          </a:bodyPr>
          <a:lstStyle/>
          <a:p>
            <a:pPr algn="l">
              <a:spcAft>
                <a:spcPts val="600"/>
              </a:spcAft>
            </a:pPr>
            <a:r>
              <a:rPr sz="2400" b="1" i="0">
                <a:solidFill>
                  <a:srgbClr val="0D1B3E"/>
                </a:solidFill>
                <a:latin typeface="Arial"/>
              </a:rPr>
              <a:t>Delegate</a:t>
            </a:r>
          </a:p>
        </p:txBody>
      </p:sp>
      <p:sp>
        <p:nvSpPr>
          <p:cNvPr id="5" name="TextBox 4"/>
          <p:cNvSpPr txBox="1"/>
          <p:nvPr/>
        </p:nvSpPr>
        <p:spPr>
          <a:xfrm>
            <a:off x="868680" y="2029968"/>
            <a:ext cx="4846320" cy="3182112"/>
          </a:xfrm>
          <a:prstGeom prst="rect">
            <a:avLst/>
          </a:prstGeom>
          <a:noFill/>
        </p:spPr>
        <p:txBody>
          <a:bodyPr wrap="square" lIns="45720" rIns="45720" anchor="t">
            <a:spAutoFit/>
          </a:bodyPr>
          <a:lstStyle/>
          <a:p>
            <a:pPr algn="l">
              <a:spcAft>
                <a:spcPts val="400"/>
              </a:spcAft>
            </a:pPr>
            <a:r>
              <a:rPr sz="1800" b="0" i="0">
                <a:solidFill>
                  <a:srgbClr val="1A2744"/>
                </a:solidFill>
                <a:latin typeface="Arial"/>
              </a:rPr>
              <a:t>•  New endpoints, services or jobs with a clear spec</a:t>
            </a:r>
          </a:p>
          <a:p>
            <a:pPr algn="l">
              <a:spcAft>
                <a:spcPts val="400"/>
              </a:spcAft>
            </a:pPr>
            <a:r>
              <a:rPr sz="1800" b="0" i="0">
                <a:solidFill>
                  <a:srgbClr val="1A2744"/>
                </a:solidFill>
                <a:latin typeface="Arial"/>
              </a:rPr>
              <a:t>•  Test suites for existing code</a:t>
            </a:r>
          </a:p>
          <a:p>
            <a:pPr algn="l">
              <a:spcAft>
                <a:spcPts val="400"/>
              </a:spcAft>
            </a:pPr>
            <a:r>
              <a:rPr sz="1800" b="0" i="0">
                <a:solidFill>
                  <a:srgbClr val="1A2744"/>
                </a:solidFill>
                <a:latin typeface="Arial"/>
              </a:rPr>
              <a:t>•  Mechanical refactors and migrations</a:t>
            </a:r>
          </a:p>
          <a:p>
            <a:pPr algn="l">
              <a:spcAft>
                <a:spcPts val="400"/>
              </a:spcAft>
            </a:pPr>
            <a:r>
              <a:rPr sz="1800" b="0" i="0">
                <a:solidFill>
                  <a:srgbClr val="1A2744"/>
                </a:solidFill>
                <a:latin typeface="Arial"/>
              </a:rPr>
              <a:t>•  Boilerplate: DTOs, mappers, repositories</a:t>
            </a:r>
          </a:p>
          <a:p>
            <a:pPr algn="l">
              <a:spcAft>
                <a:spcPts val="400"/>
              </a:spcAft>
            </a:pPr>
            <a:r>
              <a:rPr sz="1800" b="0" i="0">
                <a:solidFill>
                  <a:srgbClr val="1A2744"/>
                </a:solidFill>
                <a:latin typeface="Arial"/>
              </a:rPr>
              <a:t>•  Docs generated from existing code</a:t>
            </a:r>
          </a:p>
        </p:txBody>
      </p:sp>
      <p:sp>
        <p:nvSpPr>
          <p:cNvPr id="6" name="Rounded Rectangle 5"/>
          <p:cNvSpPr/>
          <p:nvPr/>
        </p:nvSpPr>
        <p:spPr>
          <a:xfrm>
            <a:off x="6263640" y="1371600"/>
            <a:ext cx="5303520" cy="393192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36192"/>
            <a:ext cx="4846320" cy="475488"/>
          </a:xfrm>
          <a:prstGeom prst="rect">
            <a:avLst/>
          </a:prstGeom>
          <a:noFill/>
        </p:spPr>
        <p:txBody>
          <a:bodyPr wrap="square" lIns="45720" rIns="45720" anchor="t">
            <a:spAutoFit/>
          </a:bodyPr>
          <a:lstStyle/>
          <a:p>
            <a:pPr algn="l">
              <a:spcAft>
                <a:spcPts val="600"/>
              </a:spcAft>
            </a:pPr>
            <a:r>
              <a:rPr sz="2400" b="1" i="0">
                <a:solidFill>
                  <a:srgbClr val="0D1B3E"/>
                </a:solidFill>
                <a:latin typeface="Arial"/>
              </a:rPr>
              <a:t>Keep with the owner</a:t>
            </a:r>
          </a:p>
        </p:txBody>
      </p:sp>
      <p:sp>
        <p:nvSpPr>
          <p:cNvPr id="8" name="TextBox 7"/>
          <p:cNvSpPr txBox="1"/>
          <p:nvPr/>
        </p:nvSpPr>
        <p:spPr>
          <a:xfrm>
            <a:off x="6492240" y="2029968"/>
            <a:ext cx="4846320" cy="3182112"/>
          </a:xfrm>
          <a:prstGeom prst="rect">
            <a:avLst/>
          </a:prstGeom>
          <a:noFill/>
        </p:spPr>
        <p:txBody>
          <a:bodyPr wrap="square" lIns="45720" rIns="45720" anchor="t">
            <a:spAutoFit/>
          </a:bodyPr>
          <a:lstStyle/>
          <a:p>
            <a:pPr algn="l">
              <a:spcAft>
                <a:spcPts val="400"/>
              </a:spcAft>
            </a:pPr>
            <a:r>
              <a:rPr sz="1800" b="0" i="0">
                <a:solidFill>
                  <a:srgbClr val="1A2744"/>
                </a:solidFill>
                <a:latin typeface="Arial"/>
              </a:rPr>
              <a:t>•  One-line fixes and config changes</a:t>
            </a:r>
          </a:p>
          <a:p>
            <a:pPr algn="l">
              <a:spcAft>
                <a:spcPts val="400"/>
              </a:spcAft>
            </a:pPr>
            <a:r>
              <a:rPr sz="1800" b="0" i="0">
                <a:solidFill>
                  <a:srgbClr val="1A2744"/>
                </a:solidFill>
                <a:latin typeface="Arial"/>
              </a:rPr>
              <a:t>•  Exploratory work, design still open</a:t>
            </a:r>
          </a:p>
          <a:p>
            <a:pPr algn="l">
              <a:spcAft>
                <a:spcPts val="400"/>
              </a:spcAft>
            </a:pPr>
            <a:r>
              <a:rPr sz="1800" b="0" i="0">
                <a:solidFill>
                  <a:srgbClr val="1A2744"/>
                </a:solidFill>
                <a:latin typeface="Arial"/>
              </a:rPr>
              <a:t>•  Production incidents that need someone now</a:t>
            </a:r>
          </a:p>
          <a:p>
            <a:pPr algn="l">
              <a:spcAft>
                <a:spcPts val="400"/>
              </a:spcAft>
            </a:pPr>
            <a:r>
              <a:rPr sz="1800" b="0" i="0">
                <a:solidFill>
                  <a:srgbClr val="1A2744"/>
                </a:solidFill>
                <a:latin typeface="Arial"/>
              </a:rPr>
              <a:t>•  Changes needing access the delegate lacks</a:t>
            </a:r>
          </a:p>
        </p:txBody>
      </p:sp>
      <p:sp>
        <p:nvSpPr>
          <p:cNvPr id="9" name="TextBox 8"/>
          <p:cNvSpPr txBox="1"/>
          <p:nvPr/>
        </p:nvSpPr>
        <p:spPr>
          <a:xfrm>
            <a:off x="640080" y="5532120"/>
            <a:ext cx="10881360" cy="731520"/>
          </a:xfrm>
          <a:prstGeom prst="rect">
            <a:avLst/>
          </a:prstGeom>
          <a:noFill/>
        </p:spPr>
        <p:txBody>
          <a:bodyPr wrap="square" lIns="45720" rIns="45720" anchor="t">
            <a:spAutoFit/>
          </a:bodyPr>
          <a:lstStyle/>
          <a:p>
            <a:pPr algn="ctr">
              <a:spcAft>
                <a:spcPts val="600"/>
              </a:spcAft>
            </a:pPr>
            <a:r>
              <a:rPr sz="2000" b="0" i="0">
                <a:solidFill>
                  <a:srgbClr val="0D1B3E"/>
                </a:solidFill>
                <a:latin typeface="Arial"/>
              </a:rPr>
              <a:t>Delegation has a fixed overhead. It pays off when the work is </a:t>
            </a:r>
            <a:r>
              <a:rPr sz="2000" b="1" i="0">
                <a:solidFill>
                  <a:srgbClr val="0D1B3E"/>
                </a:solidFill>
                <a:latin typeface="Arial"/>
              </a:rPr>
              <a:t>large and well defined</a:t>
            </a:r>
            <a:r>
              <a:rPr sz="2000" b="0" i="0">
                <a:solidFill>
                  <a:srgbClr val="0D1B3E"/>
                </a:solidFill>
                <a:latin typeface="Arial"/>
              </a:rPr>
              <a:t>.</a:t>
            </a:r>
          </a:p>
        </p:txBody>
      </p:sp>
      <p:sp>
        <p:nvSpPr>
          <p:cNvPr id="10" name="TextBox 9"/>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Naming and tracking</a:t>
            </a:r>
          </a:p>
        </p:txBody>
      </p:sp>
      <p:sp>
        <p:nvSpPr>
          <p:cNvPr id="3" name="Rounded Rectangle 2"/>
          <p:cNvSpPr/>
          <p:nvPr/>
        </p:nvSpPr>
        <p:spPr>
          <a:xfrm>
            <a:off x="640080" y="1371600"/>
            <a:ext cx="10881360" cy="822960"/>
          </a:xfrm>
          <a:prstGeom prst="roundRect">
            <a:avLst>
              <a:gd name="adj" fmla="val 8000"/>
            </a:avLst>
          </a:prstGeom>
          <a:solidFill>
            <a:srgbClr val="101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71600"/>
            <a:ext cx="10424160" cy="822960"/>
          </a:xfrm>
          <a:prstGeom prst="rect">
            <a:avLst/>
          </a:prstGeom>
          <a:noFill/>
        </p:spPr>
        <p:txBody>
          <a:bodyPr wrap="square" lIns="45720" rIns="45720" anchor="ctr">
            <a:spAutoFit/>
          </a:bodyPr>
          <a:lstStyle/>
          <a:p>
            <a:pPr algn="l">
              <a:spcAft>
                <a:spcPts val="600"/>
              </a:spcAft>
            </a:pPr>
            <a:r>
              <a:rPr sz="2200" b="0" i="0">
                <a:solidFill>
                  <a:srgbClr val="4ECDC4"/>
                </a:solidFill>
                <a:latin typeface="Courier New"/>
              </a:rPr>
              <a:t>docs/backlog/TASK-042-order-summary-report.md</a:t>
            </a:r>
          </a:p>
        </p:txBody>
      </p:sp>
      <p:sp>
        <p:nvSpPr>
          <p:cNvPr id="5" name="TextBox 4"/>
          <p:cNvSpPr txBox="1"/>
          <p:nvPr/>
        </p:nvSpPr>
        <p:spPr>
          <a:xfrm>
            <a:off x="640080" y="2514600"/>
            <a:ext cx="10881360" cy="3840480"/>
          </a:xfrm>
          <a:prstGeom prst="rect">
            <a:avLst/>
          </a:prstGeom>
          <a:noFill/>
        </p:spPr>
        <p:txBody>
          <a:bodyPr wrap="square" lIns="45720" rIns="45720" anchor="t">
            <a:spAutoFit/>
          </a:bodyPr>
          <a:lstStyle/>
          <a:p>
            <a:pPr algn="l">
              <a:spcAft>
                <a:spcPts val="1400"/>
              </a:spcAft>
            </a:pPr>
            <a:r>
              <a:rPr sz="2000" b="0" i="0">
                <a:solidFill>
                  <a:srgbClr val="1A2744"/>
                </a:solidFill>
                <a:latin typeface="Arial"/>
              </a:rPr>
              <a:t>•  One file per task: </a:t>
            </a:r>
            <a:r>
              <a:rPr sz="2000" b="0" i="0">
                <a:solidFill>
                  <a:srgbClr val="1A2744"/>
                </a:solidFill>
                <a:latin typeface="Courier New"/>
              </a:rPr>
              <a:t>TASK-NNN-short-slug.md</a:t>
            </a:r>
            <a:r>
              <a:rPr sz="2000" b="0" i="0">
                <a:solidFill>
                  <a:srgbClr val="1A2744"/>
                </a:solidFill>
                <a:latin typeface="Arial"/>
              </a:rPr>
              <a:t>, </a:t>
            </a:r>
            <a:r>
              <a:rPr sz="2000" b="0" i="0">
                <a:solidFill>
                  <a:srgbClr val="1A2744"/>
                </a:solidFill>
                <a:latin typeface="Courier New"/>
              </a:rPr>
              <a:t>NNN</a:t>
            </a:r>
            <a:r>
              <a:rPr sz="2000" b="0" i="0">
                <a:solidFill>
                  <a:srgbClr val="1A2744"/>
                </a:solidFill>
                <a:latin typeface="Arial"/>
              </a:rPr>
              <a:t> zero-padded and </a:t>
            </a:r>
            <a:r>
              <a:rPr sz="2000" b="1" i="0">
                <a:solidFill>
                  <a:srgbClr val="1A2744"/>
                </a:solidFill>
                <a:latin typeface="Arial"/>
              </a:rPr>
              <a:t>never reused</a:t>
            </a:r>
          </a:p>
          <a:p>
            <a:pPr algn="l">
              <a:spcAft>
                <a:spcPts val="1400"/>
              </a:spcAft>
            </a:pPr>
            <a:r>
              <a:rPr sz="2000" b="0" i="0">
                <a:solidFill>
                  <a:srgbClr val="1A2744"/>
                </a:solidFill>
                <a:latin typeface="Arial"/>
              </a:rPr>
              <a:t>•  Heading repeats ID and title: </a:t>
            </a:r>
            <a:r>
              <a:rPr sz="2000" b="0" i="0">
                <a:solidFill>
                  <a:srgbClr val="1A2744"/>
                </a:solidFill>
                <a:latin typeface="Courier New"/>
              </a:rPr>
              <a:t># TASK-042: Generate order summary report</a:t>
            </a:r>
          </a:p>
          <a:p>
            <a:pPr algn="l">
              <a:spcAft>
                <a:spcPts val="1400"/>
              </a:spcAft>
            </a:pPr>
            <a:r>
              <a:rPr sz="2000" b="0" i="0">
                <a:solidFill>
                  <a:srgbClr val="1A2744"/>
                </a:solidFill>
                <a:latin typeface="Arial"/>
              </a:rPr>
              <a:t>•  Each task gets a GitHub issue labeled </a:t>
            </a:r>
            <a:r>
              <a:rPr sz="2000" b="0" i="0">
                <a:solidFill>
                  <a:srgbClr val="1A2744"/>
                </a:solidFill>
                <a:latin typeface="Courier New"/>
              </a:rPr>
              <a:t>ai-delegation</a:t>
            </a:r>
            <a:r>
              <a:rPr sz="2000" b="0" i="0">
                <a:solidFill>
                  <a:srgbClr val="1A2744"/>
                </a:solidFill>
                <a:latin typeface="Arial"/>
              </a:rPr>
              <a:t> linking the file</a:t>
            </a:r>
          </a:p>
          <a:p>
            <a:pPr algn="l">
              <a:spcAft>
                <a:spcPts val="1400"/>
              </a:spcAft>
            </a:pPr>
            <a:r>
              <a:rPr sz="2000" b="0" i="0">
                <a:solidFill>
                  <a:srgbClr val="1A2744"/>
                </a:solidFill>
                <a:latin typeface="Arial"/>
              </a:rPr>
              <a:t>•  The issue board shows what waits for a delegate and who took what</a:t>
            </a:r>
          </a:p>
          <a:p>
            <a:pPr algn="l">
              <a:spcAft>
                <a:spcPts val="1400"/>
              </a:spcAft>
            </a:pPr>
            <a:r>
              <a:rPr sz="2000" b="0" i="0">
                <a:solidFill>
                  <a:srgbClr val="1A2744"/>
                </a:solidFill>
                <a:latin typeface="Arial"/>
              </a:rPr>
              <a:t>•  Delegates post their capacity, for example "can take 2 tasks this sprint"</a:t>
            </a:r>
          </a:p>
        </p:txBody>
      </p:sp>
      <p:sp>
        <p:nvSpPr>
          <p:cNvPr id="6" name="TextBox 5"/>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Spend credits well</a:t>
            </a:r>
          </a:p>
        </p:txBody>
      </p:sp>
      <p:sp>
        <p:nvSpPr>
          <p:cNvPr id="3" name="Rounded Rectangle 2"/>
          <p:cNvSpPr/>
          <p:nvPr/>
        </p:nvSpPr>
        <p:spPr>
          <a:xfrm>
            <a:off x="640080" y="1417320"/>
            <a:ext cx="3502152" cy="224028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81912"/>
            <a:ext cx="3044952" cy="475488"/>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One task per session</a:t>
            </a:r>
          </a:p>
        </p:txBody>
      </p:sp>
      <p:sp>
        <p:nvSpPr>
          <p:cNvPr id="5" name="TextBox 4"/>
          <p:cNvSpPr txBox="1"/>
          <p:nvPr/>
        </p:nvSpPr>
        <p:spPr>
          <a:xfrm>
            <a:off x="868680" y="2075688"/>
            <a:ext cx="3044952" cy="1490472"/>
          </a:xfrm>
          <a:prstGeom prst="rect">
            <a:avLst/>
          </a:prstGeom>
          <a:noFill/>
        </p:spPr>
        <p:txBody>
          <a:bodyPr wrap="square" lIns="45720" rIns="45720" anchor="t">
            <a:spAutoFit/>
          </a:bodyPr>
          <a:lstStyle/>
          <a:p>
            <a:pPr algn="l">
              <a:spcAft>
                <a:spcPts val="400"/>
              </a:spcAft>
            </a:pPr>
            <a:r>
              <a:rPr sz="1700" b="0" i="0">
                <a:solidFill>
                  <a:srgbClr val="1A2744"/>
                </a:solidFill>
                <a:latin typeface="Arial"/>
              </a:rPr>
              <a:t>Start fresh. Long sessions carry old context.</a:t>
            </a:r>
          </a:p>
        </p:txBody>
      </p:sp>
      <p:sp>
        <p:nvSpPr>
          <p:cNvPr id="6" name="Rounded Rectangle 5"/>
          <p:cNvSpPr/>
          <p:nvPr/>
        </p:nvSpPr>
        <p:spPr>
          <a:xfrm>
            <a:off x="4325112" y="1417320"/>
            <a:ext cx="3502152" cy="224028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581912"/>
            <a:ext cx="3044952" cy="475488"/>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Reference, don't paste</a:t>
            </a:r>
          </a:p>
        </p:txBody>
      </p:sp>
      <p:sp>
        <p:nvSpPr>
          <p:cNvPr id="8" name="TextBox 7"/>
          <p:cNvSpPr txBox="1"/>
          <p:nvPr/>
        </p:nvSpPr>
        <p:spPr>
          <a:xfrm>
            <a:off x="4553712" y="2075688"/>
            <a:ext cx="3044952" cy="1490472"/>
          </a:xfrm>
          <a:prstGeom prst="rect">
            <a:avLst/>
          </a:prstGeom>
          <a:noFill/>
        </p:spPr>
        <p:txBody>
          <a:bodyPr wrap="square" lIns="45720" rIns="45720" anchor="t">
            <a:spAutoFit/>
          </a:bodyPr>
          <a:lstStyle/>
          <a:p>
            <a:pPr algn="l">
              <a:spcAft>
                <a:spcPts val="400"/>
              </a:spcAft>
            </a:pPr>
            <a:r>
              <a:rPr sz="1700" b="0" i="0">
                <a:solidFill>
                  <a:srgbClr val="1A2744"/>
                </a:solidFill>
                <a:latin typeface="Arial"/>
              </a:rPr>
              <a:t>Point Copilot at </a:t>
            </a:r>
            <a:r>
              <a:rPr sz="1700" b="0" i="0">
                <a:solidFill>
                  <a:srgbClr val="1A2744"/>
                </a:solidFill>
                <a:latin typeface="Courier New"/>
              </a:rPr>
              <a:t>#file</a:t>
            </a:r>
            <a:r>
              <a:rPr sz="1700" b="0" i="0">
                <a:solidFill>
                  <a:srgbClr val="1A2744"/>
                </a:solidFill>
                <a:latin typeface="Arial"/>
              </a:rPr>
              <a:t> and </a:t>
            </a:r>
            <a:r>
              <a:rPr sz="1700" b="0" i="0">
                <a:solidFill>
                  <a:srgbClr val="1A2744"/>
                </a:solidFill>
                <a:latin typeface="Courier New"/>
              </a:rPr>
              <a:t>#codebase</a:t>
            </a:r>
            <a:r>
              <a:rPr sz="1700" b="0" i="0">
                <a:solidFill>
                  <a:srgbClr val="1A2744"/>
                </a:solidFill>
                <a:latin typeface="Arial"/>
              </a:rPr>
              <a:t>.</a:t>
            </a:r>
          </a:p>
        </p:txBody>
      </p:sp>
      <p:sp>
        <p:nvSpPr>
          <p:cNvPr id="9" name="Rounded Rectangle 8"/>
          <p:cNvSpPr/>
          <p:nvPr/>
        </p:nvSpPr>
        <p:spPr>
          <a:xfrm>
            <a:off x="8010144" y="1417320"/>
            <a:ext cx="3502152" cy="224028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581912"/>
            <a:ext cx="3044952" cy="475488"/>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Shared prompt</a:t>
            </a:r>
          </a:p>
        </p:txBody>
      </p:sp>
      <p:sp>
        <p:nvSpPr>
          <p:cNvPr id="11" name="TextBox 10"/>
          <p:cNvSpPr txBox="1"/>
          <p:nvPr/>
        </p:nvSpPr>
        <p:spPr>
          <a:xfrm>
            <a:off x="8238744" y="2075688"/>
            <a:ext cx="3044952" cy="1490472"/>
          </a:xfrm>
          <a:prstGeom prst="rect">
            <a:avLst/>
          </a:prstGeom>
          <a:noFill/>
        </p:spPr>
        <p:txBody>
          <a:bodyPr wrap="square" lIns="45720" rIns="45720" anchor="t">
            <a:spAutoFit/>
          </a:bodyPr>
          <a:lstStyle/>
          <a:p>
            <a:pPr algn="l">
              <a:spcAft>
                <a:spcPts val="400"/>
              </a:spcAft>
            </a:pPr>
            <a:r>
              <a:rPr sz="1700" b="0" i="0">
                <a:solidFill>
                  <a:srgbClr val="1A2744"/>
                </a:solidFill>
                <a:latin typeface="Courier New"/>
              </a:rPr>
              <a:t>implement-task</a:t>
            </a:r>
            <a:r>
              <a:rPr sz="1700" b="0" i="0">
                <a:solidFill>
                  <a:srgbClr val="1A2744"/>
                </a:solidFill>
                <a:latin typeface="Arial"/>
              </a:rPr>
              <a:t> prompt, so nobody re-explains conventions.</a:t>
            </a:r>
          </a:p>
        </p:txBody>
      </p:sp>
      <p:sp>
        <p:nvSpPr>
          <p:cNvPr id="12" name="Rounded Rectangle 11"/>
          <p:cNvSpPr/>
          <p:nvPr/>
        </p:nvSpPr>
        <p:spPr>
          <a:xfrm>
            <a:off x="640080" y="3886200"/>
            <a:ext cx="3502152" cy="224028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50792"/>
            <a:ext cx="3044952" cy="475488"/>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Plan before editing</a:t>
            </a:r>
          </a:p>
        </p:txBody>
      </p:sp>
      <p:sp>
        <p:nvSpPr>
          <p:cNvPr id="14" name="TextBox 13"/>
          <p:cNvSpPr txBox="1"/>
          <p:nvPr/>
        </p:nvSpPr>
        <p:spPr>
          <a:xfrm>
            <a:off x="868680" y="4544568"/>
            <a:ext cx="3044952" cy="1490472"/>
          </a:xfrm>
          <a:prstGeom prst="rect">
            <a:avLst/>
          </a:prstGeom>
          <a:noFill/>
        </p:spPr>
        <p:txBody>
          <a:bodyPr wrap="square" lIns="45720" rIns="45720" anchor="t">
            <a:spAutoFit/>
          </a:bodyPr>
          <a:lstStyle/>
          <a:p>
            <a:pPr algn="l">
              <a:spcAft>
                <a:spcPts val="400"/>
              </a:spcAft>
            </a:pPr>
            <a:r>
              <a:rPr sz="1700" b="0" i="0">
                <a:solidFill>
                  <a:srgbClr val="1A2744"/>
                </a:solidFill>
                <a:latin typeface="Arial"/>
              </a:rPr>
              <a:t>A wrong plan costs one request. A wrong implementation costs many.</a:t>
            </a:r>
          </a:p>
        </p:txBody>
      </p:sp>
      <p:sp>
        <p:nvSpPr>
          <p:cNvPr id="15" name="Rounded Rectangle 14"/>
          <p:cNvSpPr/>
          <p:nvPr/>
        </p:nvSpPr>
        <p:spPr>
          <a:xfrm>
            <a:off x="4325112" y="3886200"/>
            <a:ext cx="3502152" cy="224028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4050792"/>
            <a:ext cx="3044952" cy="475488"/>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Right model per step</a:t>
            </a:r>
          </a:p>
        </p:txBody>
      </p:sp>
      <p:sp>
        <p:nvSpPr>
          <p:cNvPr id="17" name="TextBox 16"/>
          <p:cNvSpPr txBox="1"/>
          <p:nvPr/>
        </p:nvSpPr>
        <p:spPr>
          <a:xfrm>
            <a:off x="4553712" y="4544568"/>
            <a:ext cx="3044952" cy="1490472"/>
          </a:xfrm>
          <a:prstGeom prst="rect">
            <a:avLst/>
          </a:prstGeom>
          <a:noFill/>
        </p:spPr>
        <p:txBody>
          <a:bodyPr wrap="square" lIns="45720" rIns="45720" anchor="t">
            <a:spAutoFit/>
          </a:bodyPr>
          <a:lstStyle/>
          <a:p>
            <a:pPr algn="l">
              <a:spcAft>
                <a:spcPts val="400"/>
              </a:spcAft>
            </a:pPr>
            <a:r>
              <a:rPr sz="1700" b="0" i="0">
                <a:solidFill>
                  <a:srgbClr val="1A2744"/>
                </a:solidFill>
                <a:latin typeface="Arial"/>
              </a:rPr>
              <a:t>Included models for routine work, pricier ones only for the hard parts.</a:t>
            </a:r>
          </a:p>
        </p:txBody>
      </p:sp>
      <p:sp>
        <p:nvSpPr>
          <p:cNvPr id="18" name="Rounded Rectangle 17"/>
          <p:cNvSpPr/>
          <p:nvPr/>
        </p:nvSpPr>
        <p:spPr>
          <a:xfrm>
            <a:off x="8010144" y="3886200"/>
            <a:ext cx="3502152" cy="224028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38744" y="4050792"/>
            <a:ext cx="3044952" cy="475488"/>
          </a:xfrm>
          <a:prstGeom prst="rect">
            <a:avLst/>
          </a:prstGeom>
          <a:noFill/>
        </p:spPr>
        <p:txBody>
          <a:bodyPr wrap="square" lIns="45720" rIns="45720" anchor="t">
            <a:spAutoFit/>
          </a:bodyPr>
          <a:lstStyle/>
          <a:p>
            <a:pPr algn="l">
              <a:spcAft>
                <a:spcPts val="600"/>
              </a:spcAft>
            </a:pPr>
            <a:r>
              <a:rPr sz="2000" b="1" i="0">
                <a:solidFill>
                  <a:srgbClr val="0D1B3E"/>
                </a:solidFill>
                <a:latin typeface="Arial"/>
              </a:rPr>
              <a:t>Stuck in a loop?</a:t>
            </a:r>
          </a:p>
        </p:txBody>
      </p:sp>
      <p:sp>
        <p:nvSpPr>
          <p:cNvPr id="20" name="TextBox 19"/>
          <p:cNvSpPr txBox="1"/>
          <p:nvPr/>
        </p:nvSpPr>
        <p:spPr>
          <a:xfrm>
            <a:off x="8238744" y="4544568"/>
            <a:ext cx="3044952" cy="1490472"/>
          </a:xfrm>
          <a:prstGeom prst="rect">
            <a:avLst/>
          </a:prstGeom>
          <a:noFill/>
        </p:spPr>
        <p:txBody>
          <a:bodyPr wrap="square" lIns="45720" rIns="45720" anchor="t">
            <a:spAutoFit/>
          </a:bodyPr>
          <a:lstStyle/>
          <a:p>
            <a:pPr algn="l">
              <a:spcAft>
                <a:spcPts val="400"/>
              </a:spcAft>
            </a:pPr>
            <a:r>
              <a:rPr sz="1700" b="0" i="0">
                <a:solidFill>
                  <a:srgbClr val="1A2744"/>
                </a:solidFill>
                <a:latin typeface="Arial"/>
              </a:rPr>
              <a:t>Stop and fix the task file instead of retrying.</a:t>
            </a:r>
          </a:p>
        </p:txBody>
      </p:sp>
      <p:sp>
        <p:nvSpPr>
          <p:cNvPr id="21" name="TextBox 20"/>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Repository setup</a:t>
            </a:r>
          </a:p>
        </p:txBody>
      </p:sp>
      <p:graphicFrame>
        <p:nvGraphicFramePr>
          <p:cNvPr id="3" name="Table 2"/>
          <p:cNvGraphicFramePr>
            <a:graphicFrameLocks noGrp="1"/>
          </p:cNvGraphicFramePr>
          <p:nvPr/>
        </p:nvGraphicFramePr>
        <p:xfrm>
          <a:off x="640080" y="1371600"/>
          <a:ext cx="10881360" cy="3840480"/>
        </p:xfrm>
        <a:graphic>
          <a:graphicData uri="http://schemas.openxmlformats.org/drawingml/2006/table">
            <a:tbl>
              <a:tblPr firstRow="1" bandRow="1">
                <a:tableStyleId>{5C22544A-7EE6-4342-B048-85BDC9FD1C3A}</a:tableStyleId>
              </a:tblPr>
              <a:tblGrid>
                <a:gridCol w="4023360"/>
                <a:gridCol w="6858000"/>
              </a:tblGrid>
              <a:tr h="548640">
                <a:tc>
                  <a:txBody>
                    <a:bodyPr wrap="square"/>
                    <a:lstStyle/>
                    <a:p>
                      <a:r>
                        <a:rPr sz="1800" b="1" i="0">
                          <a:solidFill>
                            <a:srgbClr val="FFFFFF"/>
                          </a:solidFill>
                          <a:latin typeface="Arial"/>
                        </a:rPr>
                        <a:t>Asset</a:t>
                      </a:r>
                    </a:p>
                  </a:txBody>
                  <a:tcPr marL="109728" marR="109728" anchor="ctr">
                    <a:solidFill>
                      <a:srgbClr val="0D1B3E"/>
                    </a:solidFill>
                  </a:tcPr>
                </a:tc>
                <a:tc>
                  <a:txBody>
                    <a:bodyPr wrap="square"/>
                    <a:lstStyle/>
                    <a:p>
                      <a:r>
                        <a:rPr sz="1800" b="1" i="0">
                          <a:solidFill>
                            <a:srgbClr val="FFFFFF"/>
                          </a:solidFill>
                          <a:latin typeface="Arial"/>
                        </a:rPr>
                        <a:t>Location</a:t>
                      </a:r>
                    </a:p>
                  </a:txBody>
                  <a:tcPr marL="109728" marR="109728" anchor="ctr">
                    <a:solidFill>
                      <a:srgbClr val="0D1B3E"/>
                    </a:solidFill>
                  </a:tcPr>
                </a:tc>
              </a:tr>
              <a:tr h="548640">
                <a:tc>
                  <a:txBody>
                    <a:bodyPr wrap="square"/>
                    <a:lstStyle/>
                    <a:p>
                      <a:r>
                        <a:rPr sz="1800" b="0" i="0">
                          <a:solidFill>
                            <a:srgbClr val="1A2744"/>
                          </a:solidFill>
                          <a:latin typeface="Arial"/>
                        </a:rPr>
                        <a:t>Custom instructions</a:t>
                      </a:r>
                    </a:p>
                  </a:txBody>
                  <a:tcPr marL="109728" marR="109728" anchor="ctr">
                    <a:solidFill>
                      <a:srgbClr val="FFFFFF"/>
                    </a:solidFill>
                  </a:tcPr>
                </a:tc>
                <a:tc>
                  <a:txBody>
                    <a:bodyPr wrap="square"/>
                    <a:lstStyle/>
                    <a:p>
                      <a:r>
                        <a:rPr sz="1800" b="0" i="0">
                          <a:solidFill>
                            <a:srgbClr val="1A2744"/>
                          </a:solidFill>
                          <a:latin typeface="Courier New"/>
                        </a:rPr>
                        <a:t>.github/copilot-instructions.md</a:t>
                      </a:r>
                    </a:p>
                  </a:txBody>
                  <a:tcPr marL="109728" marR="109728" anchor="ctr">
                    <a:solidFill>
                      <a:srgbClr val="FFFFFF"/>
                    </a:solidFill>
                  </a:tcPr>
                </a:tc>
              </a:tr>
              <a:tr h="548640">
                <a:tc>
                  <a:txBody>
                    <a:bodyPr wrap="square"/>
                    <a:lstStyle/>
                    <a:p>
                      <a:r>
                        <a:rPr sz="1800" b="0" i="0">
                          <a:solidFill>
                            <a:srgbClr val="1A2744"/>
                          </a:solidFill>
                          <a:latin typeface="Arial"/>
                        </a:rPr>
                        <a:t>Path instructions</a:t>
                      </a:r>
                    </a:p>
                  </a:txBody>
                  <a:tcPr marL="109728" marR="109728" anchor="ctr">
                    <a:solidFill>
                      <a:srgbClr val="F1F3F6"/>
                    </a:solidFill>
                  </a:tcPr>
                </a:tc>
                <a:tc>
                  <a:txBody>
                    <a:bodyPr wrap="square"/>
                    <a:lstStyle/>
                    <a:p>
                      <a:r>
                        <a:rPr sz="1800" b="0" i="0">
                          <a:solidFill>
                            <a:srgbClr val="1A2744"/>
                          </a:solidFill>
                          <a:latin typeface="Courier New"/>
                        </a:rPr>
                        <a:t>.github/instructions/*.instructions.md</a:t>
                      </a:r>
                    </a:p>
                  </a:txBody>
                  <a:tcPr marL="109728" marR="109728" anchor="ctr">
                    <a:solidFill>
                      <a:srgbClr val="F1F3F6"/>
                    </a:solidFill>
                  </a:tcPr>
                </a:tc>
              </a:tr>
              <a:tr h="548640">
                <a:tc>
                  <a:txBody>
                    <a:bodyPr wrap="square"/>
                    <a:lstStyle/>
                    <a:p>
                      <a:r>
                        <a:rPr sz="1800" b="0" i="0">
                          <a:solidFill>
                            <a:srgbClr val="1A2744"/>
                          </a:solidFill>
                          <a:latin typeface="Arial"/>
                        </a:rPr>
                        <a:t>Guidance for other agents</a:t>
                      </a:r>
                    </a:p>
                  </a:txBody>
                  <a:tcPr marL="109728" marR="109728" anchor="ctr">
                    <a:solidFill>
                      <a:srgbClr val="FFFFFF"/>
                    </a:solidFill>
                  </a:tcPr>
                </a:tc>
                <a:tc>
                  <a:txBody>
                    <a:bodyPr wrap="square"/>
                    <a:lstStyle/>
                    <a:p>
                      <a:r>
                        <a:rPr sz="1800" b="0" i="0">
                          <a:solidFill>
                            <a:srgbClr val="1A2744"/>
                          </a:solidFill>
                          <a:latin typeface="Courier New"/>
                        </a:rPr>
                        <a:t>AGENTS.md</a:t>
                      </a:r>
                    </a:p>
                  </a:txBody>
                  <a:tcPr marL="109728" marR="109728" anchor="ctr">
                    <a:solidFill>
                      <a:srgbClr val="FFFFFF"/>
                    </a:solidFill>
                  </a:tcPr>
                </a:tc>
              </a:tr>
              <a:tr h="548640">
                <a:tc>
                  <a:txBody>
                    <a:bodyPr wrap="square"/>
                    <a:lstStyle/>
                    <a:p>
                      <a:r>
                        <a:rPr sz="1800" b="0" i="0">
                          <a:solidFill>
                            <a:srgbClr val="1A2744"/>
                          </a:solidFill>
                          <a:latin typeface="Courier New"/>
                        </a:rPr>
                        <a:t>implement-task</a:t>
                      </a:r>
                      <a:r>
                        <a:rPr sz="1800" b="0" i="0">
                          <a:solidFill>
                            <a:srgbClr val="1A2744"/>
                          </a:solidFill>
                          <a:latin typeface="Arial"/>
                        </a:rPr>
                        <a:t> prompt</a:t>
                      </a:r>
                    </a:p>
                  </a:txBody>
                  <a:tcPr marL="109728" marR="109728" anchor="ctr">
                    <a:solidFill>
                      <a:srgbClr val="F1F3F6"/>
                    </a:solidFill>
                  </a:tcPr>
                </a:tc>
                <a:tc>
                  <a:txBody>
                    <a:bodyPr wrap="square"/>
                    <a:lstStyle/>
                    <a:p>
                      <a:r>
                        <a:rPr sz="1800" b="0" i="0">
                          <a:solidFill>
                            <a:srgbClr val="1A2744"/>
                          </a:solidFill>
                          <a:latin typeface="Courier New"/>
                        </a:rPr>
                        <a:t>.github/prompts/implement-task.prompt.md</a:t>
                      </a:r>
                    </a:p>
                  </a:txBody>
                  <a:tcPr marL="109728" marR="109728" anchor="ctr">
                    <a:solidFill>
                      <a:srgbClr val="F1F3F6"/>
                    </a:solidFill>
                  </a:tcPr>
                </a:tc>
              </a:tr>
              <a:tr h="548640">
                <a:tc>
                  <a:txBody>
                    <a:bodyPr wrap="square"/>
                    <a:lstStyle/>
                    <a:p>
                      <a:r>
                        <a:rPr sz="1800" b="0" i="0">
                          <a:solidFill>
                            <a:srgbClr val="1A2744"/>
                          </a:solidFill>
                          <a:latin typeface="Arial"/>
                        </a:rPr>
                        <a:t>Custom agents</a:t>
                      </a:r>
                    </a:p>
                  </a:txBody>
                  <a:tcPr marL="109728" marR="109728" anchor="ctr">
                    <a:solidFill>
                      <a:srgbClr val="FFFFFF"/>
                    </a:solidFill>
                  </a:tcPr>
                </a:tc>
                <a:tc>
                  <a:txBody>
                    <a:bodyPr wrap="square"/>
                    <a:lstStyle/>
                    <a:p>
                      <a:r>
                        <a:rPr sz="1800" b="0" i="0">
                          <a:solidFill>
                            <a:srgbClr val="1A2744"/>
                          </a:solidFill>
                          <a:latin typeface="Courier New"/>
                        </a:rPr>
                        <a:t>.github/agents/*.agent.md</a:t>
                      </a:r>
                    </a:p>
                  </a:txBody>
                  <a:tcPr marL="109728" marR="109728" anchor="ctr">
                    <a:solidFill>
                      <a:srgbClr val="FFFFFF"/>
                    </a:solidFill>
                  </a:tcPr>
                </a:tc>
              </a:tr>
              <a:tr h="548640">
                <a:tc>
                  <a:txBody>
                    <a:bodyPr wrap="square"/>
                    <a:lstStyle/>
                    <a:p>
                      <a:r>
                        <a:rPr sz="1800" b="0" i="0">
                          <a:solidFill>
                            <a:srgbClr val="1A2744"/>
                          </a:solidFill>
                          <a:latin typeface="Arial"/>
                        </a:rPr>
                        <a:t>Skills</a:t>
                      </a:r>
                    </a:p>
                  </a:txBody>
                  <a:tcPr marL="109728" marR="109728" anchor="ctr">
                    <a:solidFill>
                      <a:srgbClr val="F1F3F6"/>
                    </a:solidFill>
                  </a:tcPr>
                </a:tc>
                <a:tc>
                  <a:txBody>
                    <a:bodyPr wrap="square"/>
                    <a:lstStyle/>
                    <a:p>
                      <a:r>
                        <a:rPr sz="1800" b="0" i="0">
                          <a:solidFill>
                            <a:srgbClr val="1A2744"/>
                          </a:solidFill>
                          <a:latin typeface="Courier New"/>
                        </a:rPr>
                        <a:t>.github/skills/&lt;name&gt;/SKILL.md</a:t>
                      </a:r>
                    </a:p>
                  </a:txBody>
                  <a:tcPr marL="109728" marR="109728" anchor="ctr">
                    <a:solidFill>
                      <a:srgbClr val="F1F3F6"/>
                    </a:solidFill>
                  </a:tcPr>
                </a:tc>
              </a:tr>
            </a:tbl>
          </a:graphicData>
        </a:graphic>
      </p:graphicFrame>
      <p:sp>
        <p:nvSpPr>
          <p:cNvPr id="4" name="TextBox 3"/>
          <p:cNvSpPr txBox="1"/>
          <p:nvPr/>
        </p:nvSpPr>
        <p:spPr>
          <a:xfrm>
            <a:off x="640080" y="5577840"/>
            <a:ext cx="10881360" cy="640080"/>
          </a:xfrm>
          <a:prstGeom prst="rect">
            <a:avLst/>
          </a:prstGeom>
          <a:noFill/>
        </p:spPr>
        <p:txBody>
          <a:bodyPr wrap="square" lIns="45720" rIns="45720" anchor="t">
            <a:spAutoFit/>
          </a:bodyPr>
          <a:lstStyle/>
          <a:p>
            <a:pPr algn="ctr">
              <a:spcAft>
                <a:spcPts val="600"/>
              </a:spcAft>
            </a:pPr>
            <a:r>
              <a:rPr sz="2100" b="0" i="0">
                <a:solidFill>
                  <a:srgbClr val="0D1B3E"/>
                </a:solidFill>
                <a:latin typeface="Arial"/>
              </a:rPr>
              <a:t>Every delegate gets the </a:t>
            </a:r>
            <a:r>
              <a:rPr sz="2100" b="1" i="0">
                <a:solidFill>
                  <a:srgbClr val="0D1B3E"/>
                </a:solidFill>
                <a:latin typeface="Arial"/>
              </a:rPr>
              <a:t>same setup</a:t>
            </a:r>
            <a:r>
              <a:rPr sz="2100" b="0" i="0">
                <a:solidFill>
                  <a:srgbClr val="0D1B3E"/>
                </a:solidFill>
                <a:latin typeface="Arial"/>
              </a:rPr>
              <a:t> from the repo.</a:t>
            </a:r>
          </a:p>
        </p:txBody>
      </p:sp>
      <p:sp>
        <p:nvSpPr>
          <p:cNvPr id="5" name="TextBox 4"/>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Public agents, skills and MCP servers</a:t>
            </a:r>
          </a:p>
        </p:txBody>
      </p:sp>
      <p:sp>
        <p:nvSpPr>
          <p:cNvPr id="3" name="Rounded Rectangle 2"/>
          <p:cNvSpPr/>
          <p:nvPr/>
        </p:nvSpPr>
        <p:spPr>
          <a:xfrm>
            <a:off x="640080" y="1371600"/>
            <a:ext cx="6400800" cy="493776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36192"/>
            <a:ext cx="5943600" cy="475488"/>
          </a:xfrm>
          <a:prstGeom prst="rect">
            <a:avLst/>
          </a:prstGeom>
          <a:noFill/>
        </p:spPr>
        <p:txBody>
          <a:bodyPr wrap="square" lIns="45720" rIns="45720" anchor="t">
            <a:spAutoFit/>
          </a:bodyPr>
          <a:lstStyle/>
          <a:p>
            <a:pPr algn="l">
              <a:spcAft>
                <a:spcPts val="600"/>
              </a:spcAft>
            </a:pPr>
            <a:r>
              <a:rPr sz="2200" b="1" i="0">
                <a:solidFill>
                  <a:srgbClr val="0D1B3E"/>
                </a:solidFill>
                <a:latin typeface="Arial"/>
              </a:rPr>
              <a:t>Workflow and agents</a:t>
            </a:r>
          </a:p>
        </p:txBody>
      </p:sp>
      <p:sp>
        <p:nvSpPr>
          <p:cNvPr id="5" name="TextBox 4"/>
          <p:cNvSpPr txBox="1"/>
          <p:nvPr/>
        </p:nvSpPr>
        <p:spPr>
          <a:xfrm>
            <a:off x="868680" y="2029968"/>
            <a:ext cx="5943600" cy="4187952"/>
          </a:xfrm>
          <a:prstGeom prst="rect">
            <a:avLst/>
          </a:prstGeom>
          <a:noFill/>
        </p:spPr>
        <p:txBody>
          <a:bodyPr wrap="square" lIns="45720" rIns="45720" anchor="t">
            <a:spAutoFit/>
          </a:bodyPr>
          <a:lstStyle/>
          <a:p>
            <a:pPr algn="l">
              <a:spcAft>
                <a:spcPts val="400"/>
              </a:spcAft>
            </a:pPr>
            <a:r>
              <a:rPr sz="1600" b="1" i="0">
                <a:solidFill>
                  <a:srgbClr val="1A2744"/>
                </a:solidFill>
                <a:latin typeface="Arial"/>
              </a:rPr>
              <a:t>GitHub Spec Kit</a:t>
            </a:r>
          </a:p>
          <a:p>
            <a:pPr algn="l">
              <a:spcAft>
                <a:spcPts val="400"/>
              </a:spcAft>
            </a:pPr>
            <a:r>
              <a:rPr sz="1600" b="0" i="0">
                <a:solidFill>
                  <a:srgbClr val="1A2744"/>
                </a:solidFill>
                <a:latin typeface="Courier New"/>
              </a:rPr>
              <a:t>/speckit-constitution</a:t>
            </a:r>
            <a:r>
              <a:rPr sz="1600" b="0" i="0">
                <a:solidFill>
                  <a:srgbClr val="1A2744"/>
                </a:solidFill>
                <a:latin typeface="Arial"/>
              </a:rPr>
              <a:t>  </a:t>
            </a:r>
            <a:r>
              <a:rPr sz="1600" b="0" i="0">
                <a:solidFill>
                  <a:srgbClr val="1A2744"/>
                </a:solidFill>
                <a:latin typeface="Courier New"/>
              </a:rPr>
              <a:t>/speckit-specify</a:t>
            </a:r>
          </a:p>
          <a:p>
            <a:pPr algn="l">
              <a:spcAft>
                <a:spcPts val="400"/>
              </a:spcAft>
            </a:pPr>
            <a:r>
              <a:rPr sz="1600" b="0" i="0">
                <a:solidFill>
                  <a:srgbClr val="1A2744"/>
                </a:solidFill>
                <a:latin typeface="Courier New"/>
              </a:rPr>
              <a:t>/speckit-plan</a:t>
            </a:r>
            <a:r>
              <a:rPr sz="1600" b="0" i="0">
                <a:solidFill>
                  <a:srgbClr val="1A2744"/>
                </a:solidFill>
                <a:latin typeface="Arial"/>
              </a:rPr>
              <a:t>  </a:t>
            </a:r>
            <a:r>
              <a:rPr sz="1600" b="0" i="0">
                <a:solidFill>
                  <a:srgbClr val="1A2744"/>
                </a:solidFill>
                <a:latin typeface="Courier New"/>
              </a:rPr>
              <a:t>/speckit-tasks</a:t>
            </a:r>
          </a:p>
          <a:p>
            <a:pPr algn="l">
              <a:spcAft>
                <a:spcPts val="400"/>
              </a:spcAft>
            </a:pPr>
            <a:r>
              <a:rPr sz="1600" b="0" i="0">
                <a:solidFill>
                  <a:srgbClr val="1A2744"/>
                </a:solidFill>
                <a:latin typeface="Courier New"/>
              </a:rPr>
              <a:t>/speckit-implement</a:t>
            </a:r>
            <a:r>
              <a:rPr sz="1600" b="0" i="0">
                <a:solidFill>
                  <a:srgbClr val="1A2744"/>
                </a:solidFill>
                <a:latin typeface="Arial"/>
              </a:rPr>
              <a:t>  </a:t>
            </a:r>
            <a:r>
              <a:rPr sz="1600" b="0" i="0">
                <a:solidFill>
                  <a:srgbClr val="1A2744"/>
                </a:solidFill>
                <a:latin typeface="Courier New"/>
              </a:rPr>
              <a:t>/speckit-converge</a:t>
            </a:r>
          </a:p>
          <a:p>
            <a:pPr algn="l">
              <a:spcAft>
                <a:spcPts val="400"/>
              </a:spcAft>
            </a:pPr>
          </a:p>
          <a:p>
            <a:pPr algn="l">
              <a:spcAft>
                <a:spcPts val="400"/>
              </a:spcAft>
            </a:pPr>
            <a:r>
              <a:rPr sz="1600" b="1" i="0">
                <a:solidFill>
                  <a:srgbClr val="1A2744"/>
                </a:solidFill>
                <a:latin typeface="Arial"/>
              </a:rPr>
              <a:t>Copilot agent mode</a:t>
            </a:r>
            <a:r>
              <a:rPr sz="1600" b="0" i="0">
                <a:solidFill>
                  <a:srgbClr val="1A2744"/>
                </a:solidFill>
                <a:latin typeface="Arial"/>
              </a:rPr>
              <a:t> in the IDE</a:t>
            </a:r>
          </a:p>
          <a:p>
            <a:pPr algn="l">
              <a:spcAft>
                <a:spcPts val="400"/>
              </a:spcAft>
            </a:pPr>
            <a:r>
              <a:rPr sz="1600" b="1" i="0">
                <a:solidFill>
                  <a:srgbClr val="1A2744"/>
                </a:solidFill>
                <a:latin typeface="Arial"/>
              </a:rPr>
              <a:t>Copilot coding agent</a:t>
            </a:r>
            <a:r>
              <a:rPr sz="1600" b="0" i="0">
                <a:solidFill>
                  <a:srgbClr val="1A2744"/>
                </a:solidFill>
                <a:latin typeface="Arial"/>
              </a:rPr>
              <a:t> on the issue</a:t>
            </a:r>
          </a:p>
          <a:p>
            <a:pPr algn="l">
              <a:spcAft>
                <a:spcPts val="400"/>
              </a:spcAft>
            </a:pPr>
            <a:r>
              <a:rPr sz="1600" b="1" i="0">
                <a:solidFill>
                  <a:srgbClr val="1A2744"/>
                </a:solidFill>
                <a:latin typeface="Arial"/>
              </a:rPr>
              <a:t>Copilot code review</a:t>
            </a:r>
            <a:r>
              <a:rPr sz="1600" b="0" i="0">
                <a:solidFill>
                  <a:srgbClr val="1A2744"/>
                </a:solidFill>
                <a:latin typeface="Arial"/>
              </a:rPr>
              <a:t> on the PR</a:t>
            </a:r>
          </a:p>
          <a:p>
            <a:pPr algn="l">
              <a:spcAft>
                <a:spcPts val="400"/>
              </a:spcAft>
            </a:pPr>
          </a:p>
          <a:p>
            <a:pPr algn="l">
              <a:spcAft>
                <a:spcPts val="400"/>
              </a:spcAft>
            </a:pPr>
            <a:r>
              <a:rPr sz="1600" b="0" i="0">
                <a:solidFill>
                  <a:srgbClr val="1A2744"/>
                </a:solidFill>
                <a:latin typeface="Arial"/>
              </a:rPr>
              <a:t>awesome-copilot, anthropics/skills, addyosmani/agent-skills</a:t>
            </a:r>
          </a:p>
        </p:txBody>
      </p:sp>
      <p:sp>
        <p:nvSpPr>
          <p:cNvPr id="6" name="Rounded Rectangle 5"/>
          <p:cNvSpPr/>
          <p:nvPr/>
        </p:nvSpPr>
        <p:spPr>
          <a:xfrm>
            <a:off x="7269480" y="1371600"/>
            <a:ext cx="4297680" cy="493776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0" y="1536192"/>
            <a:ext cx="3840480" cy="475488"/>
          </a:xfrm>
          <a:prstGeom prst="rect">
            <a:avLst/>
          </a:prstGeom>
          <a:noFill/>
        </p:spPr>
        <p:txBody>
          <a:bodyPr wrap="square" lIns="45720" rIns="45720" anchor="t">
            <a:spAutoFit/>
          </a:bodyPr>
          <a:lstStyle/>
          <a:p>
            <a:pPr algn="l">
              <a:spcAft>
                <a:spcPts val="600"/>
              </a:spcAft>
            </a:pPr>
            <a:r>
              <a:rPr sz="2200" b="1" i="0">
                <a:solidFill>
                  <a:srgbClr val="0D1B3E"/>
                </a:solidFill>
                <a:latin typeface="Arial"/>
              </a:rPr>
              <a:t>MCP servers</a:t>
            </a:r>
          </a:p>
        </p:txBody>
      </p:sp>
      <p:sp>
        <p:nvSpPr>
          <p:cNvPr id="8" name="TextBox 7"/>
          <p:cNvSpPr txBox="1"/>
          <p:nvPr/>
        </p:nvSpPr>
        <p:spPr>
          <a:xfrm>
            <a:off x="7498080" y="2029968"/>
            <a:ext cx="3840480" cy="4187952"/>
          </a:xfrm>
          <a:prstGeom prst="rect">
            <a:avLst/>
          </a:prstGeom>
          <a:noFill/>
        </p:spPr>
        <p:txBody>
          <a:bodyPr wrap="square" lIns="45720" rIns="45720" anchor="t">
            <a:spAutoFit/>
          </a:bodyPr>
          <a:lstStyle/>
          <a:p>
            <a:pPr algn="l">
              <a:spcAft>
                <a:spcPts val="400"/>
              </a:spcAft>
            </a:pPr>
            <a:r>
              <a:rPr sz="1700" b="1" i="0">
                <a:solidFill>
                  <a:srgbClr val="1A2744"/>
                </a:solidFill>
                <a:latin typeface="Arial"/>
              </a:rPr>
              <a:t>GitHub MCP</a:t>
            </a:r>
          </a:p>
          <a:p>
            <a:pPr algn="l">
              <a:spcAft>
                <a:spcPts val="400"/>
              </a:spcAft>
            </a:pPr>
            <a:r>
              <a:rPr sz="1700" b="0" i="0">
                <a:solidFill>
                  <a:srgbClr val="1A2744"/>
                </a:solidFill>
                <a:latin typeface="Arial"/>
              </a:rPr>
              <a:t>Issue, linked PRs, CI results</a:t>
            </a:r>
          </a:p>
          <a:p>
            <a:pPr algn="l">
              <a:spcAft>
                <a:spcPts val="400"/>
              </a:spcAft>
            </a:pPr>
          </a:p>
          <a:p>
            <a:pPr algn="l">
              <a:spcAft>
                <a:spcPts val="400"/>
              </a:spcAft>
            </a:pPr>
            <a:r>
              <a:rPr sz="1700" b="1" i="0">
                <a:solidFill>
                  <a:srgbClr val="1A2744"/>
                </a:solidFill>
                <a:latin typeface="Arial"/>
              </a:rPr>
              <a:t>Context7</a:t>
            </a:r>
          </a:p>
          <a:p>
            <a:pPr algn="l">
              <a:spcAft>
                <a:spcPts val="400"/>
              </a:spcAft>
            </a:pPr>
            <a:r>
              <a:rPr sz="1700" b="0" i="0">
                <a:solidFill>
                  <a:srgbClr val="1A2744"/>
                </a:solidFill>
                <a:latin typeface="Arial"/>
              </a:rPr>
              <a:t>Current library docs, no outdated APIs</a:t>
            </a:r>
          </a:p>
          <a:p>
            <a:pPr algn="l">
              <a:spcAft>
                <a:spcPts val="400"/>
              </a:spcAft>
            </a:pPr>
          </a:p>
          <a:p>
            <a:pPr algn="l">
              <a:spcAft>
                <a:spcPts val="400"/>
              </a:spcAft>
            </a:pPr>
            <a:r>
              <a:rPr sz="1700" b="1" i="0">
                <a:solidFill>
                  <a:srgbClr val="1A2744"/>
                </a:solidFill>
                <a:latin typeface="Arial"/>
              </a:rPr>
              <a:t>Playwright MCP</a:t>
            </a:r>
          </a:p>
          <a:p>
            <a:pPr algn="l">
              <a:spcAft>
                <a:spcPts val="400"/>
              </a:spcAft>
            </a:pPr>
            <a:r>
              <a:rPr sz="1700" b="0" i="0">
                <a:solidFill>
                  <a:srgbClr val="1A2744"/>
                </a:solidFill>
                <a:latin typeface="Arial"/>
              </a:rPr>
              <a:t>Drives the UI during validation</a:t>
            </a:r>
          </a:p>
        </p:txBody>
      </p:sp>
      <p:sp>
        <p:nvSpPr>
          <p:cNvPr id="9" name="TextBox 8"/>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Guardrails</a:t>
            </a:r>
          </a:p>
        </p:txBody>
      </p:sp>
      <p:sp>
        <p:nvSpPr>
          <p:cNvPr id="3" name="Rounded Rectangle 2"/>
          <p:cNvSpPr/>
          <p:nvPr/>
        </p:nvSpPr>
        <p:spPr>
          <a:xfrm>
            <a:off x="640080" y="1371600"/>
            <a:ext cx="10881360" cy="86868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3017520" cy="868680"/>
          </a:xfrm>
          <a:prstGeom prst="rect">
            <a:avLst/>
          </a:prstGeom>
          <a:noFill/>
        </p:spPr>
        <p:txBody>
          <a:bodyPr wrap="square" lIns="45720" rIns="45720" anchor="ctr">
            <a:spAutoFit/>
          </a:bodyPr>
          <a:lstStyle/>
          <a:p>
            <a:pPr algn="l">
              <a:spcAft>
                <a:spcPts val="600"/>
              </a:spcAft>
            </a:pPr>
            <a:r>
              <a:rPr sz="2000" b="1" i="0">
                <a:solidFill>
                  <a:srgbClr val="0D1B3E"/>
                </a:solidFill>
                <a:latin typeface="Arial"/>
              </a:rPr>
              <a:t>Same access</a:t>
            </a:r>
          </a:p>
        </p:txBody>
      </p:sp>
      <p:sp>
        <p:nvSpPr>
          <p:cNvPr id="5" name="TextBox 4"/>
          <p:cNvSpPr txBox="1"/>
          <p:nvPr/>
        </p:nvSpPr>
        <p:spPr>
          <a:xfrm>
            <a:off x="3931920" y="1371600"/>
            <a:ext cx="7406640" cy="86868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Delegates already have repository access. Nobody gains access they did not have.</a:t>
            </a:r>
          </a:p>
        </p:txBody>
      </p:sp>
      <p:sp>
        <p:nvSpPr>
          <p:cNvPr id="6" name="Rounded Rectangle 5"/>
          <p:cNvSpPr/>
          <p:nvPr/>
        </p:nvSpPr>
        <p:spPr>
          <a:xfrm>
            <a:off x="640080" y="2377440"/>
            <a:ext cx="10881360" cy="86868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77440"/>
            <a:ext cx="3017520" cy="868680"/>
          </a:xfrm>
          <a:prstGeom prst="rect">
            <a:avLst/>
          </a:prstGeom>
          <a:noFill/>
        </p:spPr>
        <p:txBody>
          <a:bodyPr wrap="square" lIns="45720" rIns="45720" anchor="ctr">
            <a:spAutoFit/>
          </a:bodyPr>
          <a:lstStyle/>
          <a:p>
            <a:pPr algn="l">
              <a:spcAft>
                <a:spcPts val="600"/>
              </a:spcAft>
            </a:pPr>
            <a:r>
              <a:rPr sz="2000" b="1" i="0">
                <a:solidFill>
                  <a:srgbClr val="0D1B3E"/>
                </a:solidFill>
                <a:latin typeface="Arial"/>
              </a:rPr>
              <a:t>Synthetic data</a:t>
            </a:r>
          </a:p>
        </p:txBody>
      </p:sp>
      <p:sp>
        <p:nvSpPr>
          <p:cNvPr id="8" name="TextBox 7"/>
          <p:cNvSpPr txBox="1"/>
          <p:nvPr/>
        </p:nvSpPr>
        <p:spPr>
          <a:xfrm>
            <a:off x="3931920" y="2377440"/>
            <a:ext cx="7406640" cy="86868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Task files hold synthetic examples, never secrets or production data.</a:t>
            </a:r>
          </a:p>
        </p:txBody>
      </p:sp>
      <p:sp>
        <p:nvSpPr>
          <p:cNvPr id="9" name="Rounded Rectangle 8"/>
          <p:cNvSpPr/>
          <p:nvPr/>
        </p:nvSpPr>
        <p:spPr>
          <a:xfrm>
            <a:off x="640080" y="3383280"/>
            <a:ext cx="10881360" cy="86868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83280"/>
            <a:ext cx="3017520" cy="868680"/>
          </a:xfrm>
          <a:prstGeom prst="rect">
            <a:avLst/>
          </a:prstGeom>
          <a:noFill/>
        </p:spPr>
        <p:txBody>
          <a:bodyPr wrap="square" lIns="45720" rIns="45720" anchor="ctr">
            <a:spAutoFit/>
          </a:bodyPr>
          <a:lstStyle/>
          <a:p>
            <a:pPr algn="l">
              <a:spcAft>
                <a:spcPts val="600"/>
              </a:spcAft>
            </a:pPr>
            <a:r>
              <a:rPr sz="2000" b="1" i="0">
                <a:solidFill>
                  <a:srgbClr val="0D1B3E"/>
                </a:solidFill>
                <a:latin typeface="Arial"/>
              </a:rPr>
              <a:t>Approved AI policy</a:t>
            </a:r>
          </a:p>
        </p:txBody>
      </p:sp>
      <p:sp>
        <p:nvSpPr>
          <p:cNvPr id="11" name="TextBox 10"/>
          <p:cNvSpPr txBox="1"/>
          <p:nvPr/>
        </p:nvSpPr>
        <p:spPr>
          <a:xfrm>
            <a:off x="3931920" y="3383280"/>
            <a:ext cx="7406640" cy="86868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Public code filtering and content exclusions stay as configured.</a:t>
            </a:r>
          </a:p>
        </p:txBody>
      </p:sp>
      <p:sp>
        <p:nvSpPr>
          <p:cNvPr id="12" name="Rounded Rectangle 11"/>
          <p:cNvSpPr/>
          <p:nvPr/>
        </p:nvSpPr>
        <p:spPr>
          <a:xfrm>
            <a:off x="640080" y="4389120"/>
            <a:ext cx="10881360" cy="868680"/>
          </a:xfrm>
          <a:prstGeom prst="roundRect">
            <a:avLst>
              <a:gd name="adj" fmla="val 8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389120"/>
            <a:ext cx="3017520" cy="868680"/>
          </a:xfrm>
          <a:prstGeom prst="rect">
            <a:avLst/>
          </a:prstGeom>
          <a:noFill/>
        </p:spPr>
        <p:txBody>
          <a:bodyPr wrap="square" lIns="45720" rIns="45720" anchor="ctr">
            <a:spAutoFit/>
          </a:bodyPr>
          <a:lstStyle/>
          <a:p>
            <a:pPr algn="l">
              <a:spcAft>
                <a:spcPts val="600"/>
              </a:spcAft>
            </a:pPr>
            <a:r>
              <a:rPr sz="2000" b="1" i="0">
                <a:solidFill>
                  <a:srgbClr val="0D1B3E"/>
                </a:solidFill>
                <a:latin typeface="Arial"/>
              </a:rPr>
              <a:t>Same gates</a:t>
            </a:r>
          </a:p>
        </p:txBody>
      </p:sp>
      <p:sp>
        <p:nvSpPr>
          <p:cNvPr id="14" name="TextBox 13"/>
          <p:cNvSpPr txBox="1"/>
          <p:nvPr/>
        </p:nvSpPr>
        <p:spPr>
          <a:xfrm>
            <a:off x="3931920" y="4389120"/>
            <a:ext cx="7406640" cy="868680"/>
          </a:xfrm>
          <a:prstGeom prst="rect">
            <a:avLst/>
          </a:prstGeom>
          <a:noFill/>
        </p:spPr>
        <p:txBody>
          <a:bodyPr wrap="square" lIns="45720" rIns="45720" anchor="ctr">
            <a:spAutoFit/>
          </a:bodyPr>
          <a:lstStyle/>
          <a:p>
            <a:pPr algn="l">
              <a:spcAft>
                <a:spcPts val="600"/>
              </a:spcAft>
            </a:pPr>
            <a:r>
              <a:rPr sz="1800" b="0" i="0">
                <a:solidFill>
                  <a:srgbClr val="1A2744"/>
                </a:solidFill>
                <a:latin typeface="Arial"/>
              </a:rPr>
              <a:t>Same review, CI/CD and quality gates as any other change.</a:t>
            </a:r>
          </a:p>
        </p:txBody>
      </p:sp>
      <p:sp>
        <p:nvSpPr>
          <p:cNvPr id="15" name="Rounded Rectangle 14"/>
          <p:cNvSpPr/>
          <p:nvPr/>
        </p:nvSpPr>
        <p:spPr>
          <a:xfrm>
            <a:off x="640080" y="5394960"/>
            <a:ext cx="10881360" cy="86868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94960"/>
            <a:ext cx="3017520" cy="868680"/>
          </a:xfrm>
          <a:prstGeom prst="rect">
            <a:avLst/>
          </a:prstGeom>
          <a:noFill/>
        </p:spPr>
        <p:txBody>
          <a:bodyPr wrap="square" lIns="45720" rIns="45720" anchor="ctr">
            <a:spAutoFit/>
          </a:bodyPr>
          <a:lstStyle/>
          <a:p>
            <a:pPr algn="l">
              <a:spcAft>
                <a:spcPts val="600"/>
              </a:spcAft>
            </a:pPr>
            <a:r>
              <a:rPr sz="2000" b="1" i="0">
                <a:solidFill>
                  <a:srgbClr val="0D1B3E"/>
                </a:solidFill>
                <a:latin typeface="Arial"/>
              </a:rPr>
              <a:t>Repo is the truth</a:t>
            </a:r>
          </a:p>
        </p:txBody>
      </p:sp>
      <p:sp>
        <p:nvSpPr>
          <p:cNvPr id="17" name="TextBox 16"/>
          <p:cNvSpPr txBox="1"/>
          <p:nvPr/>
        </p:nvSpPr>
        <p:spPr>
          <a:xfrm>
            <a:off x="3931920" y="5394960"/>
            <a:ext cx="7406640" cy="868680"/>
          </a:xfrm>
          <a:prstGeom prst="rect">
            <a:avLst/>
          </a:prstGeom>
          <a:noFill/>
        </p:spPr>
        <p:txBody>
          <a:bodyPr wrap="square" lIns="45720" rIns="45720" anchor="ctr">
            <a:spAutoFit/>
          </a:bodyPr>
          <a:lstStyle/>
          <a:p>
            <a:pPr algn="l">
              <a:spcAft>
                <a:spcPts val="600"/>
              </a:spcAft>
            </a:pPr>
            <a:r>
              <a:rPr sz="1800" b="0" i="0">
                <a:solidFill>
                  <a:srgbClr val="1A2744"/>
                </a:solidFill>
                <a:latin typeface="Courier New"/>
              </a:rPr>
              <a:t>/docs</a:t>
            </a:r>
            <a:r>
              <a:rPr sz="1800" b="0" i="0">
                <a:solidFill>
                  <a:srgbClr val="1A2744"/>
                </a:solidFill>
                <a:latin typeface="Arial"/>
              </a:rPr>
              <a:t> is the source of truth, not Copilot conversations.</a:t>
            </a:r>
          </a:p>
        </p:txBody>
      </p:sp>
      <p:sp>
        <p:nvSpPr>
          <p:cNvPr id="18" name="TextBox 17"/>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Is it working? Track per sprint</a:t>
            </a:r>
          </a:p>
        </p:txBody>
      </p:sp>
      <p:sp>
        <p:nvSpPr>
          <p:cNvPr id="3" name="Rounded Rectangle 2"/>
          <p:cNvSpPr/>
          <p:nvPr/>
        </p:nvSpPr>
        <p:spPr>
          <a:xfrm>
            <a:off x="640080" y="1417320"/>
            <a:ext cx="5349240" cy="210312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81912"/>
            <a:ext cx="4892040" cy="475488"/>
          </a:xfrm>
          <a:prstGeom prst="rect">
            <a:avLst/>
          </a:prstGeom>
          <a:noFill/>
        </p:spPr>
        <p:txBody>
          <a:bodyPr wrap="square" lIns="45720" rIns="45720" anchor="t">
            <a:spAutoFit/>
          </a:bodyPr>
          <a:lstStyle/>
          <a:p>
            <a:pPr algn="l">
              <a:spcAft>
                <a:spcPts val="600"/>
              </a:spcAft>
            </a:pPr>
            <a:r>
              <a:rPr sz="2200" b="1" i="0">
                <a:solidFill>
                  <a:srgbClr val="0D1B3E"/>
                </a:solidFill>
                <a:latin typeface="Arial"/>
              </a:rPr>
              <a:t>Tasks delegated and merged</a:t>
            </a:r>
          </a:p>
        </p:txBody>
      </p:sp>
      <p:sp>
        <p:nvSpPr>
          <p:cNvPr id="5" name="TextBox 4"/>
          <p:cNvSpPr txBox="1"/>
          <p:nvPr/>
        </p:nvSpPr>
        <p:spPr>
          <a:xfrm>
            <a:off x="868680" y="2075688"/>
            <a:ext cx="4892040" cy="1353312"/>
          </a:xfrm>
          <a:prstGeom prst="rect">
            <a:avLst/>
          </a:prstGeom>
          <a:noFill/>
        </p:spPr>
        <p:txBody>
          <a:bodyPr wrap="square" lIns="45720" rIns="45720" anchor="t">
            <a:spAutoFit/>
          </a:bodyPr>
          <a:lstStyle/>
          <a:p>
            <a:pPr algn="l">
              <a:spcAft>
                <a:spcPts val="400"/>
              </a:spcAft>
            </a:pPr>
            <a:r>
              <a:rPr sz="1900" b="0" i="0">
                <a:solidFill>
                  <a:srgbClr val="1A2744"/>
                </a:solidFill>
                <a:latin typeface="Arial"/>
              </a:rPr>
              <a:t>Is the process being used?</a:t>
            </a:r>
          </a:p>
        </p:txBody>
      </p:sp>
      <p:sp>
        <p:nvSpPr>
          <p:cNvPr id="6" name="Rounded Rectangle 5"/>
          <p:cNvSpPr/>
          <p:nvPr/>
        </p:nvSpPr>
        <p:spPr>
          <a:xfrm>
            <a:off x="6172200" y="1417320"/>
            <a:ext cx="5349240" cy="210312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81912"/>
            <a:ext cx="4892040" cy="475488"/>
          </a:xfrm>
          <a:prstGeom prst="rect">
            <a:avLst/>
          </a:prstGeom>
          <a:noFill/>
        </p:spPr>
        <p:txBody>
          <a:bodyPr wrap="square" lIns="45720" rIns="45720" anchor="t">
            <a:spAutoFit/>
          </a:bodyPr>
          <a:lstStyle/>
          <a:p>
            <a:pPr algn="l">
              <a:spcAft>
                <a:spcPts val="600"/>
              </a:spcAft>
            </a:pPr>
            <a:r>
              <a:rPr sz="2200" b="1" i="0">
                <a:solidFill>
                  <a:srgbClr val="0D1B3E"/>
                </a:solidFill>
                <a:latin typeface="Arial"/>
              </a:rPr>
              <a:t>Iterations per task</a:t>
            </a:r>
          </a:p>
        </p:txBody>
      </p:sp>
      <p:sp>
        <p:nvSpPr>
          <p:cNvPr id="8" name="TextBox 7"/>
          <p:cNvSpPr txBox="1"/>
          <p:nvPr/>
        </p:nvSpPr>
        <p:spPr>
          <a:xfrm>
            <a:off x="6400800" y="2075688"/>
            <a:ext cx="4892040" cy="1353312"/>
          </a:xfrm>
          <a:prstGeom prst="rect">
            <a:avLst/>
          </a:prstGeom>
          <a:noFill/>
        </p:spPr>
        <p:txBody>
          <a:bodyPr wrap="square" lIns="45720" rIns="45720" anchor="t">
            <a:spAutoFit/>
          </a:bodyPr>
          <a:lstStyle/>
          <a:p>
            <a:pPr algn="l">
              <a:spcAft>
                <a:spcPts val="400"/>
              </a:spcAft>
            </a:pPr>
            <a:r>
              <a:rPr sz="1900" b="0" i="0">
                <a:solidFill>
                  <a:srgbClr val="1A2744"/>
                </a:solidFill>
                <a:latin typeface="Arial"/>
              </a:rPr>
              <a:t>More than two usually means the task was not ready</a:t>
            </a:r>
          </a:p>
        </p:txBody>
      </p:sp>
      <p:sp>
        <p:nvSpPr>
          <p:cNvPr id="9" name="Rounded Rectangle 8"/>
          <p:cNvSpPr/>
          <p:nvPr/>
        </p:nvSpPr>
        <p:spPr>
          <a:xfrm>
            <a:off x="640080" y="3749040"/>
            <a:ext cx="5349240" cy="2103120"/>
          </a:xfrm>
          <a:prstGeom prst="roundRect">
            <a:avLst>
              <a:gd name="adj" fmla="val 8000"/>
            </a:avLst>
          </a:prstGeom>
          <a:solidFill>
            <a:srgbClr val="DF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913632"/>
            <a:ext cx="4892040" cy="475488"/>
          </a:xfrm>
          <a:prstGeom prst="rect">
            <a:avLst/>
          </a:prstGeom>
          <a:noFill/>
        </p:spPr>
        <p:txBody>
          <a:bodyPr wrap="square" lIns="45720" rIns="45720" anchor="t">
            <a:spAutoFit/>
          </a:bodyPr>
          <a:lstStyle/>
          <a:p>
            <a:pPr algn="l">
              <a:spcAft>
                <a:spcPts val="600"/>
              </a:spcAft>
            </a:pPr>
            <a:r>
              <a:rPr sz="2200" b="1" i="0">
                <a:solidFill>
                  <a:srgbClr val="0D1B3E"/>
                </a:solidFill>
                <a:latin typeface="Arial"/>
              </a:rPr>
              <a:t>Approval to merge time</a:t>
            </a:r>
          </a:p>
        </p:txBody>
      </p:sp>
      <p:sp>
        <p:nvSpPr>
          <p:cNvPr id="11" name="TextBox 10"/>
          <p:cNvSpPr txBox="1"/>
          <p:nvPr/>
        </p:nvSpPr>
        <p:spPr>
          <a:xfrm>
            <a:off x="868680" y="4407408"/>
            <a:ext cx="4892040" cy="1353312"/>
          </a:xfrm>
          <a:prstGeom prst="rect">
            <a:avLst/>
          </a:prstGeom>
          <a:noFill/>
        </p:spPr>
        <p:txBody>
          <a:bodyPr wrap="square" lIns="45720" rIns="45720" anchor="t">
            <a:spAutoFit/>
          </a:bodyPr>
          <a:lstStyle/>
          <a:p>
            <a:pPr algn="l">
              <a:spcAft>
                <a:spcPts val="400"/>
              </a:spcAft>
            </a:pPr>
            <a:r>
              <a:rPr sz="1900" b="0" i="0">
                <a:solidFill>
                  <a:srgbClr val="1A2744"/>
                </a:solidFill>
                <a:latin typeface="Arial"/>
              </a:rPr>
              <a:t>Compare with similar tasks done by hand</a:t>
            </a:r>
          </a:p>
        </p:txBody>
      </p:sp>
      <p:sp>
        <p:nvSpPr>
          <p:cNvPr id="12" name="Rounded Rectangle 11"/>
          <p:cNvSpPr/>
          <p:nvPr/>
        </p:nvSpPr>
        <p:spPr>
          <a:xfrm>
            <a:off x="6172200" y="3749040"/>
            <a:ext cx="5349240" cy="2103120"/>
          </a:xfrm>
          <a:prstGeom prst="roundRect">
            <a:avLst>
              <a:gd name="adj" fmla="val 8000"/>
            </a:avLst>
          </a:prstGeom>
          <a:solidFill>
            <a:srgbClr val="EEF8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913632"/>
            <a:ext cx="4892040" cy="475488"/>
          </a:xfrm>
          <a:prstGeom prst="rect">
            <a:avLst/>
          </a:prstGeom>
          <a:noFill/>
        </p:spPr>
        <p:txBody>
          <a:bodyPr wrap="square" lIns="45720" rIns="45720" anchor="t">
            <a:spAutoFit/>
          </a:bodyPr>
          <a:lstStyle/>
          <a:p>
            <a:pPr algn="l">
              <a:spcAft>
                <a:spcPts val="600"/>
              </a:spcAft>
            </a:pPr>
            <a:r>
              <a:rPr sz="2200" b="1" i="0">
                <a:solidFill>
                  <a:srgbClr val="0D1B3E"/>
                </a:solidFill>
                <a:latin typeface="Arial"/>
              </a:rPr>
              <a:t>Tasks waiting for a delegate</a:t>
            </a:r>
          </a:p>
        </p:txBody>
      </p:sp>
      <p:sp>
        <p:nvSpPr>
          <p:cNvPr id="14" name="TextBox 13"/>
          <p:cNvSpPr txBox="1"/>
          <p:nvPr/>
        </p:nvSpPr>
        <p:spPr>
          <a:xfrm>
            <a:off x="6400800" y="4407408"/>
            <a:ext cx="4892040" cy="1353312"/>
          </a:xfrm>
          <a:prstGeom prst="rect">
            <a:avLst/>
          </a:prstGeom>
          <a:noFill/>
        </p:spPr>
        <p:txBody>
          <a:bodyPr wrap="square" lIns="45720" rIns="45720" anchor="t">
            <a:spAutoFit/>
          </a:bodyPr>
          <a:lstStyle/>
          <a:p>
            <a:pPr algn="l">
              <a:spcAft>
                <a:spcPts val="400"/>
              </a:spcAft>
            </a:pPr>
            <a:r>
              <a:rPr sz="1900" b="0" i="0">
                <a:solidFill>
                  <a:srgbClr val="1A2744"/>
                </a:solidFill>
                <a:latin typeface="Arial"/>
              </a:rPr>
              <a:t>Growing queue: more capacity or smaller tasks</a:t>
            </a:r>
          </a:p>
        </p:txBody>
      </p:sp>
      <p:sp>
        <p:nvSpPr>
          <p:cNvPr id="15" name="TextBox 14"/>
          <p:cNvSpPr txBox="1"/>
          <p:nvPr/>
        </p:nvSpPr>
        <p:spPr>
          <a:xfrm>
            <a:off x="640080" y="6126480"/>
            <a:ext cx="10881360" cy="457200"/>
          </a:xfrm>
          <a:prstGeom prst="rect">
            <a:avLst/>
          </a:prstGeom>
          <a:noFill/>
        </p:spPr>
        <p:txBody>
          <a:bodyPr wrap="square" lIns="45720" rIns="45720" anchor="t">
            <a:spAutoFit/>
          </a:bodyPr>
          <a:lstStyle/>
          <a:p>
            <a:pPr algn="ctr">
              <a:spcAft>
                <a:spcPts val="600"/>
              </a:spcAft>
            </a:pPr>
            <a:r>
              <a:rPr sz="1500" b="0" i="1">
                <a:solidFill>
                  <a:srgbClr val="6B7A90"/>
                </a:solidFill>
                <a:latin typeface="Arial"/>
              </a:rPr>
              <a:t>A proposal: these are the measures to track from the first sprint.</a:t>
            </a:r>
          </a:p>
        </p:txBody>
      </p:sp>
      <p:sp>
        <p:nvSpPr>
          <p:cNvPr id="16" name="TextBox 15"/>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11480"/>
            <a:ext cx="10881360" cy="822960"/>
          </a:xfrm>
          <a:prstGeom prst="rect">
            <a:avLst/>
          </a:prstGeom>
          <a:noFill/>
        </p:spPr>
        <p:txBody>
          <a:bodyPr wrap="square" lIns="45720" rIns="45720" anchor="ctr">
            <a:spAutoFit/>
          </a:bodyPr>
          <a:lstStyle/>
          <a:p>
            <a:pPr algn="l">
              <a:spcAft>
                <a:spcPts val="600"/>
              </a:spcAft>
            </a:pPr>
            <a:r>
              <a:rPr sz="3400" b="1" i="0">
                <a:solidFill>
                  <a:srgbClr val="0D1B3E"/>
                </a:solidFill>
                <a:latin typeface="Arial"/>
              </a:rPr>
              <a:t>Key takeaways</a:t>
            </a:r>
          </a:p>
        </p:txBody>
      </p:sp>
      <p:sp>
        <p:nvSpPr>
          <p:cNvPr id="3" name="Oval 2"/>
          <p:cNvSpPr/>
          <p:nvPr/>
        </p:nvSpPr>
        <p:spPr>
          <a:xfrm>
            <a:off x="731520" y="1371600"/>
            <a:ext cx="594360" cy="594360"/>
          </a:xfrm>
          <a:prstGeom prst="ellipse">
            <a:avLst/>
          </a:prstGeom>
          <a:solidFill>
            <a:srgbClr val="0D1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94360" cy="594360"/>
          </a:xfrm>
          <a:prstGeom prst="rect">
            <a:avLst/>
          </a:prstGeom>
          <a:noFill/>
        </p:spPr>
        <p:txBody>
          <a:bodyPr wrap="square" lIns="45720" rIns="45720" anchor="ctr">
            <a:spAutoFit/>
          </a:bodyPr>
          <a:lstStyle/>
          <a:p>
            <a:pPr algn="ctr">
              <a:spcAft>
                <a:spcPts val="600"/>
              </a:spcAft>
            </a:pPr>
            <a:r>
              <a:rPr sz="2000" b="1" i="0">
                <a:solidFill>
                  <a:srgbClr val="4ECDC4"/>
                </a:solidFill>
                <a:latin typeface="Arial"/>
              </a:rPr>
              <a:t>1</a:t>
            </a:r>
          </a:p>
        </p:txBody>
      </p:sp>
      <p:sp>
        <p:nvSpPr>
          <p:cNvPr id="5" name="TextBox 4"/>
          <p:cNvSpPr txBox="1"/>
          <p:nvPr/>
        </p:nvSpPr>
        <p:spPr>
          <a:xfrm>
            <a:off x="1554480" y="1371600"/>
            <a:ext cx="9875520" cy="594360"/>
          </a:xfrm>
          <a:prstGeom prst="rect">
            <a:avLst/>
          </a:prstGeom>
          <a:noFill/>
        </p:spPr>
        <p:txBody>
          <a:bodyPr wrap="square" lIns="45720" rIns="45720" anchor="ctr">
            <a:spAutoFit/>
          </a:bodyPr>
          <a:lstStyle/>
          <a:p>
            <a:pPr algn="l">
              <a:spcAft>
                <a:spcPts val="600"/>
              </a:spcAft>
            </a:pPr>
            <a:r>
              <a:rPr sz="2200" b="0" i="0">
                <a:solidFill>
                  <a:srgbClr val="1A2744"/>
                </a:solidFill>
                <a:latin typeface="Arial"/>
              </a:rPr>
              <a:t>Share </a:t>
            </a:r>
            <a:r>
              <a:rPr sz="2200" b="1" i="0">
                <a:solidFill>
                  <a:srgbClr val="1A2744"/>
                </a:solidFill>
                <a:latin typeface="Arial"/>
              </a:rPr>
              <a:t>work</a:t>
            </a:r>
            <a:r>
              <a:rPr sz="2200" b="0" i="0">
                <a:solidFill>
                  <a:srgbClr val="1A2744"/>
                </a:solidFill>
                <a:latin typeface="Arial"/>
              </a:rPr>
              <a:t>, not accounts or tokens</a:t>
            </a:r>
          </a:p>
        </p:txBody>
      </p:sp>
      <p:sp>
        <p:nvSpPr>
          <p:cNvPr id="6" name="Oval 5"/>
          <p:cNvSpPr/>
          <p:nvPr/>
        </p:nvSpPr>
        <p:spPr>
          <a:xfrm>
            <a:off x="731520" y="2194560"/>
            <a:ext cx="594360" cy="594360"/>
          </a:xfrm>
          <a:prstGeom prst="ellipse">
            <a:avLst/>
          </a:prstGeom>
          <a:solidFill>
            <a:srgbClr val="0D1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94560"/>
            <a:ext cx="594360" cy="594360"/>
          </a:xfrm>
          <a:prstGeom prst="rect">
            <a:avLst/>
          </a:prstGeom>
          <a:noFill/>
        </p:spPr>
        <p:txBody>
          <a:bodyPr wrap="square" lIns="45720" rIns="45720" anchor="ctr">
            <a:spAutoFit/>
          </a:bodyPr>
          <a:lstStyle/>
          <a:p>
            <a:pPr algn="ctr">
              <a:spcAft>
                <a:spcPts val="600"/>
              </a:spcAft>
            </a:pPr>
            <a:r>
              <a:rPr sz="2000" b="1" i="0">
                <a:solidFill>
                  <a:srgbClr val="4ECDC4"/>
                </a:solidFill>
                <a:latin typeface="Arial"/>
              </a:rPr>
              <a:t>2</a:t>
            </a:r>
          </a:p>
        </p:txBody>
      </p:sp>
      <p:sp>
        <p:nvSpPr>
          <p:cNvPr id="8" name="TextBox 7"/>
          <p:cNvSpPr txBox="1"/>
          <p:nvPr/>
        </p:nvSpPr>
        <p:spPr>
          <a:xfrm>
            <a:off x="1554480" y="2194560"/>
            <a:ext cx="9875520" cy="594360"/>
          </a:xfrm>
          <a:prstGeom prst="rect">
            <a:avLst/>
          </a:prstGeom>
          <a:noFill/>
        </p:spPr>
        <p:txBody>
          <a:bodyPr wrap="square" lIns="45720" rIns="45720" anchor="ctr">
            <a:spAutoFit/>
          </a:bodyPr>
          <a:lstStyle/>
          <a:p>
            <a:pPr algn="l">
              <a:spcAft>
                <a:spcPts val="600"/>
              </a:spcAft>
            </a:pPr>
            <a:r>
              <a:rPr sz="2200" b="1" i="0">
                <a:solidFill>
                  <a:srgbClr val="1A2744"/>
                </a:solidFill>
                <a:latin typeface="Arial"/>
              </a:rPr>
              <a:t>Spec-driven development</a:t>
            </a:r>
            <a:r>
              <a:rPr sz="2200" b="0" i="0">
                <a:solidFill>
                  <a:srgbClr val="1A2744"/>
                </a:solidFill>
                <a:latin typeface="Arial"/>
              </a:rPr>
              <a:t> with the steps split across people</a:t>
            </a:r>
          </a:p>
        </p:txBody>
      </p:sp>
      <p:sp>
        <p:nvSpPr>
          <p:cNvPr id="9" name="Oval 8"/>
          <p:cNvSpPr/>
          <p:nvPr/>
        </p:nvSpPr>
        <p:spPr>
          <a:xfrm>
            <a:off x="731520" y="3017520"/>
            <a:ext cx="594360" cy="594360"/>
          </a:xfrm>
          <a:prstGeom prst="ellipse">
            <a:avLst/>
          </a:prstGeom>
          <a:solidFill>
            <a:srgbClr val="0D1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017520"/>
            <a:ext cx="594360" cy="594360"/>
          </a:xfrm>
          <a:prstGeom prst="rect">
            <a:avLst/>
          </a:prstGeom>
          <a:noFill/>
        </p:spPr>
        <p:txBody>
          <a:bodyPr wrap="square" lIns="45720" rIns="45720" anchor="ctr">
            <a:spAutoFit/>
          </a:bodyPr>
          <a:lstStyle/>
          <a:p>
            <a:pPr algn="ctr">
              <a:spcAft>
                <a:spcPts val="600"/>
              </a:spcAft>
            </a:pPr>
            <a:r>
              <a:rPr sz="2000" b="1" i="0">
                <a:solidFill>
                  <a:srgbClr val="4ECDC4"/>
                </a:solidFill>
                <a:latin typeface="Arial"/>
              </a:rPr>
              <a:t>3</a:t>
            </a:r>
          </a:p>
        </p:txBody>
      </p:sp>
      <p:sp>
        <p:nvSpPr>
          <p:cNvPr id="11" name="TextBox 10"/>
          <p:cNvSpPr txBox="1"/>
          <p:nvPr/>
        </p:nvSpPr>
        <p:spPr>
          <a:xfrm>
            <a:off x="1554480" y="3017520"/>
            <a:ext cx="9875520" cy="594360"/>
          </a:xfrm>
          <a:prstGeom prst="rect">
            <a:avLst/>
          </a:prstGeom>
          <a:noFill/>
        </p:spPr>
        <p:txBody>
          <a:bodyPr wrap="square" lIns="45720" rIns="45720" anchor="ctr">
            <a:spAutoFit/>
          </a:bodyPr>
          <a:lstStyle/>
          <a:p>
            <a:pPr algn="l">
              <a:spcAft>
                <a:spcPts val="600"/>
              </a:spcAft>
            </a:pPr>
            <a:r>
              <a:rPr sz="2200" b="0" i="0">
                <a:solidFill>
                  <a:srgbClr val="1A2744"/>
                </a:solidFill>
                <a:latin typeface="Arial"/>
              </a:rPr>
              <a:t>The </a:t>
            </a:r>
            <a:r>
              <a:rPr sz="2200" b="1" i="0">
                <a:solidFill>
                  <a:srgbClr val="1A2744"/>
                </a:solidFill>
                <a:latin typeface="Arial"/>
              </a:rPr>
              <a:t>spec</a:t>
            </a:r>
            <a:r>
              <a:rPr sz="2200" b="0" i="0">
                <a:solidFill>
                  <a:srgbClr val="1A2744"/>
                </a:solidFill>
                <a:latin typeface="Arial"/>
              </a:rPr>
              <a:t> is the handoff, committed in the repo</a:t>
            </a:r>
          </a:p>
        </p:txBody>
      </p:sp>
      <p:sp>
        <p:nvSpPr>
          <p:cNvPr id="12" name="Oval 11"/>
          <p:cNvSpPr/>
          <p:nvPr/>
        </p:nvSpPr>
        <p:spPr>
          <a:xfrm>
            <a:off x="731520" y="3840480"/>
            <a:ext cx="594360" cy="594360"/>
          </a:xfrm>
          <a:prstGeom prst="ellipse">
            <a:avLst/>
          </a:prstGeom>
          <a:solidFill>
            <a:srgbClr val="0D1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40480"/>
            <a:ext cx="594360" cy="594360"/>
          </a:xfrm>
          <a:prstGeom prst="rect">
            <a:avLst/>
          </a:prstGeom>
          <a:noFill/>
        </p:spPr>
        <p:txBody>
          <a:bodyPr wrap="square" lIns="45720" rIns="45720" anchor="ctr">
            <a:spAutoFit/>
          </a:bodyPr>
          <a:lstStyle/>
          <a:p>
            <a:pPr algn="ctr">
              <a:spcAft>
                <a:spcPts val="600"/>
              </a:spcAft>
            </a:pPr>
            <a:r>
              <a:rPr sz="2000" b="1" i="0">
                <a:solidFill>
                  <a:srgbClr val="4ECDC4"/>
                </a:solidFill>
                <a:latin typeface="Arial"/>
              </a:rPr>
              <a:t>4</a:t>
            </a:r>
          </a:p>
        </p:txBody>
      </p:sp>
      <p:sp>
        <p:nvSpPr>
          <p:cNvPr id="14" name="TextBox 13"/>
          <p:cNvSpPr txBox="1"/>
          <p:nvPr/>
        </p:nvSpPr>
        <p:spPr>
          <a:xfrm>
            <a:off x="1554480" y="3840480"/>
            <a:ext cx="9875520" cy="594360"/>
          </a:xfrm>
          <a:prstGeom prst="rect">
            <a:avLst/>
          </a:prstGeom>
          <a:noFill/>
        </p:spPr>
        <p:txBody>
          <a:bodyPr wrap="square" lIns="45720" rIns="45720" anchor="ctr">
            <a:spAutoFit/>
          </a:bodyPr>
          <a:lstStyle/>
          <a:p>
            <a:pPr algn="l">
              <a:spcAft>
                <a:spcPts val="600"/>
              </a:spcAft>
            </a:pPr>
            <a:r>
              <a:rPr sz="2200" b="1" i="0">
                <a:solidFill>
                  <a:srgbClr val="1A2744"/>
                </a:solidFill>
                <a:latin typeface="Arial"/>
              </a:rPr>
              <a:t>Owners think and check</a:t>
            </a:r>
            <a:r>
              <a:rPr sz="2200" b="0" i="0">
                <a:solidFill>
                  <a:srgbClr val="1A2744"/>
                </a:solidFill>
                <a:latin typeface="Arial"/>
              </a:rPr>
              <a:t>, delegates spend credits on implementation</a:t>
            </a:r>
          </a:p>
        </p:txBody>
      </p:sp>
      <p:sp>
        <p:nvSpPr>
          <p:cNvPr id="15" name="Oval 14"/>
          <p:cNvSpPr/>
          <p:nvPr/>
        </p:nvSpPr>
        <p:spPr>
          <a:xfrm>
            <a:off x="731520" y="4663440"/>
            <a:ext cx="594360" cy="594360"/>
          </a:xfrm>
          <a:prstGeom prst="ellipse">
            <a:avLst/>
          </a:prstGeom>
          <a:solidFill>
            <a:srgbClr val="0D1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663440"/>
            <a:ext cx="594360" cy="594360"/>
          </a:xfrm>
          <a:prstGeom prst="rect">
            <a:avLst/>
          </a:prstGeom>
          <a:noFill/>
        </p:spPr>
        <p:txBody>
          <a:bodyPr wrap="square" lIns="45720" rIns="45720" anchor="ctr">
            <a:spAutoFit/>
          </a:bodyPr>
          <a:lstStyle/>
          <a:p>
            <a:pPr algn="ctr">
              <a:spcAft>
                <a:spcPts val="600"/>
              </a:spcAft>
            </a:pPr>
            <a:r>
              <a:rPr sz="2000" b="1" i="0">
                <a:solidFill>
                  <a:srgbClr val="4ECDC4"/>
                </a:solidFill>
                <a:latin typeface="Arial"/>
              </a:rPr>
              <a:t>5</a:t>
            </a:r>
          </a:p>
        </p:txBody>
      </p:sp>
      <p:sp>
        <p:nvSpPr>
          <p:cNvPr id="17" name="TextBox 16"/>
          <p:cNvSpPr txBox="1"/>
          <p:nvPr/>
        </p:nvSpPr>
        <p:spPr>
          <a:xfrm>
            <a:off x="1554480" y="4663440"/>
            <a:ext cx="9875520" cy="594360"/>
          </a:xfrm>
          <a:prstGeom prst="rect">
            <a:avLst/>
          </a:prstGeom>
          <a:noFill/>
        </p:spPr>
        <p:txBody>
          <a:bodyPr wrap="square" lIns="45720" rIns="45720" anchor="ctr">
            <a:spAutoFit/>
          </a:bodyPr>
          <a:lstStyle/>
          <a:p>
            <a:pPr algn="l">
              <a:spcAft>
                <a:spcPts val="600"/>
              </a:spcAft>
            </a:pPr>
            <a:r>
              <a:rPr sz="2200" b="0" i="0">
                <a:solidFill>
                  <a:srgbClr val="1A2744"/>
                </a:solidFill>
                <a:latin typeface="Arial"/>
              </a:rPr>
              <a:t>A reviewer gate </a:t>
            </a:r>
            <a:r>
              <a:rPr sz="2200" b="1" i="0">
                <a:solidFill>
                  <a:srgbClr val="1A2744"/>
                </a:solidFill>
                <a:latin typeface="Arial"/>
              </a:rPr>
              <a:t>before</a:t>
            </a:r>
            <a:r>
              <a:rPr sz="2200" b="0" i="0">
                <a:solidFill>
                  <a:srgbClr val="1A2744"/>
                </a:solidFill>
                <a:latin typeface="Arial"/>
              </a:rPr>
              <a:t> credits are spent</a:t>
            </a:r>
          </a:p>
        </p:txBody>
      </p:sp>
      <p:sp>
        <p:nvSpPr>
          <p:cNvPr id="18" name="Oval 17"/>
          <p:cNvSpPr/>
          <p:nvPr/>
        </p:nvSpPr>
        <p:spPr>
          <a:xfrm>
            <a:off x="731520" y="5486400"/>
            <a:ext cx="594360" cy="594360"/>
          </a:xfrm>
          <a:prstGeom prst="ellipse">
            <a:avLst/>
          </a:prstGeom>
          <a:solidFill>
            <a:srgbClr val="0D1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486400"/>
            <a:ext cx="594360" cy="594360"/>
          </a:xfrm>
          <a:prstGeom prst="rect">
            <a:avLst/>
          </a:prstGeom>
          <a:noFill/>
        </p:spPr>
        <p:txBody>
          <a:bodyPr wrap="square" lIns="45720" rIns="45720" anchor="ctr">
            <a:spAutoFit/>
          </a:bodyPr>
          <a:lstStyle/>
          <a:p>
            <a:pPr algn="ctr">
              <a:spcAft>
                <a:spcPts val="600"/>
              </a:spcAft>
            </a:pPr>
            <a:r>
              <a:rPr sz="2000" b="1" i="0">
                <a:solidFill>
                  <a:srgbClr val="4ECDC4"/>
                </a:solidFill>
                <a:latin typeface="Arial"/>
              </a:rPr>
              <a:t>6</a:t>
            </a:r>
          </a:p>
        </p:txBody>
      </p:sp>
      <p:sp>
        <p:nvSpPr>
          <p:cNvPr id="20" name="TextBox 19"/>
          <p:cNvSpPr txBox="1"/>
          <p:nvPr/>
        </p:nvSpPr>
        <p:spPr>
          <a:xfrm>
            <a:off x="1554480" y="5486400"/>
            <a:ext cx="9875520" cy="594360"/>
          </a:xfrm>
          <a:prstGeom prst="rect">
            <a:avLst/>
          </a:prstGeom>
          <a:noFill/>
        </p:spPr>
        <p:txBody>
          <a:bodyPr wrap="square" lIns="45720" rIns="45720" anchor="ctr">
            <a:spAutoFit/>
          </a:bodyPr>
          <a:lstStyle/>
          <a:p>
            <a:pPr algn="l">
              <a:spcAft>
                <a:spcPts val="600"/>
              </a:spcAft>
            </a:pPr>
            <a:r>
              <a:rPr sz="2200" b="0" i="0">
                <a:solidFill>
                  <a:srgbClr val="1A2744"/>
                </a:solidFill>
                <a:latin typeface="Arial"/>
              </a:rPr>
              <a:t>Same PR, CI/CD and quality gates as every other change</a:t>
            </a:r>
          </a:p>
        </p:txBody>
      </p:sp>
      <p:sp>
        <p:nvSpPr>
          <p:cNvPr id="21" name="TextBox 20"/>
          <p:cNvSpPr txBox="1"/>
          <p:nvPr/>
        </p:nvSpPr>
        <p:spPr>
          <a:xfrm>
            <a:off x="10972800" y="6400800"/>
            <a:ext cx="914400" cy="320040"/>
          </a:xfrm>
          <a:prstGeom prst="rect">
            <a:avLst/>
          </a:prstGeom>
          <a:noFill/>
        </p:spPr>
        <p:txBody>
          <a:bodyPr wrap="square" lIns="45720" rIns="45720" anchor="t">
            <a:spAutoFit/>
          </a:bodyPr>
          <a:lstStyle/>
          <a:p>
            <a:pPr algn="r">
              <a:spcAft>
                <a:spcPts val="600"/>
              </a:spcAft>
            </a:pPr>
            <a:r>
              <a:rPr sz="1100" b="0" i="0">
                <a:solidFill>
                  <a:srgbClr val="6B7A9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914400" y="914400"/>
            <a:ext cx="10332720" cy="1188720"/>
          </a:xfrm>
          <a:prstGeom prst="rect">
            <a:avLst/>
          </a:prstGeom>
          <a:noFill/>
        </p:spPr>
        <p:txBody>
          <a:bodyPr wrap="square" lIns="45720" rIns="45720" anchor="b">
            <a:spAutoFit/>
          </a:bodyPr>
          <a:lstStyle/>
          <a:p>
            <a:pPr algn="l">
              <a:spcAft>
                <a:spcPts val="600"/>
              </a:spcAft>
            </a:pPr>
            <a:r>
              <a:rPr sz="4400" b="1" i="0">
                <a:solidFill>
                  <a:srgbClr val="4ECDC4"/>
                </a:solidFill>
                <a:latin typeface="Arial"/>
              </a:rPr>
              <a:t>Resources</a:t>
            </a:r>
          </a:p>
        </p:txBody>
      </p:sp>
      <p:sp>
        <p:nvSpPr>
          <p:cNvPr id="3" name="Rectangle 2"/>
          <p:cNvSpPr/>
          <p:nvPr/>
        </p:nvSpPr>
        <p:spPr>
          <a:xfrm>
            <a:off x="914400" y="2240280"/>
            <a:ext cx="2011680" cy="64008"/>
          </a:xfrm>
          <a:prstGeom prst="rect">
            <a:avLst/>
          </a:prstGeom>
          <a:solidFill>
            <a:srgbClr val="4EC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14600"/>
            <a:ext cx="10332720" cy="3886200"/>
          </a:xfrm>
          <a:prstGeom prst="rect">
            <a:avLst/>
          </a:prstGeom>
          <a:noFill/>
        </p:spPr>
        <p:txBody>
          <a:bodyPr wrap="square" lIns="45720" rIns="45720" anchor="t">
            <a:spAutoFit/>
          </a:bodyPr>
          <a:lstStyle/>
          <a:p>
            <a:pPr>
              <a:spcAft>
                <a:spcPts val="400"/>
              </a:spcAft>
            </a:pPr>
            <a:r>
              <a:rPr sz="2000" b="1" i="0">
                <a:solidFill>
                  <a:srgbClr val="FFFFFF"/>
                </a:solidFill>
                <a:latin typeface="Arial"/>
              </a:rPr>
              <a:t>Repo (PRD + sample task + design doc):</a:t>
            </a:r>
          </a:p>
          <a:p>
            <a:pPr>
              <a:spcAft>
                <a:spcPts val="400"/>
              </a:spcAft>
            </a:pPr>
            <a:r>
              <a:rPr sz="2000" b="0" i="0">
                <a:solidFill>
                  <a:srgbClr val="4ECDC4"/>
                </a:solidFill>
                <a:latin typeface="Arial"/>
              </a:rPr>
              <a:t>github.com/wallaceespindola/share-tokens-using-spec-driven-dev</a:t>
            </a:r>
          </a:p>
          <a:p>
            <a:pPr>
              <a:spcAft>
                <a:spcPts val="400"/>
              </a:spcAft>
            </a:pPr>
          </a:p>
          <a:p>
            <a:pPr>
              <a:spcAft>
                <a:spcPts val="400"/>
              </a:spcAft>
            </a:pPr>
            <a:r>
              <a:rPr sz="2000" b="1" i="0">
                <a:solidFill>
                  <a:srgbClr val="FFFFFF"/>
                </a:solidFill>
                <a:latin typeface="Arial"/>
              </a:rPr>
              <a:t>GitHub Spec Kit:</a:t>
            </a:r>
          </a:p>
          <a:p>
            <a:pPr>
              <a:spcAft>
                <a:spcPts val="400"/>
              </a:spcAft>
            </a:pPr>
            <a:r>
              <a:rPr sz="2000" b="0" i="0">
                <a:solidFill>
                  <a:srgbClr val="4ECDC4"/>
                </a:solidFill>
                <a:latin typeface="Arial"/>
              </a:rPr>
              <a:t>github.com/github/spec-kit</a:t>
            </a:r>
          </a:p>
          <a:p>
            <a:pPr>
              <a:spcAft>
                <a:spcPts val="400"/>
              </a:spcAft>
            </a:pPr>
          </a:p>
          <a:p>
            <a:pPr>
              <a:spcAft>
                <a:spcPts val="400"/>
              </a:spcAft>
            </a:pPr>
            <a:r>
              <a:rPr sz="2000" b="1" i="0">
                <a:solidFill>
                  <a:srgbClr val="FFFFFF"/>
                </a:solidFill>
                <a:latin typeface="Arial"/>
              </a:rPr>
              <a:t>Wallace Espindola</a:t>
            </a:r>
          </a:p>
          <a:p>
            <a:pPr>
              <a:spcAft>
                <a:spcPts val="400"/>
              </a:spcAft>
            </a:pPr>
            <a:r>
              <a:rPr sz="1800" b="0" i="0">
                <a:solidFill>
                  <a:srgbClr val="4ECDC4"/>
                </a:solidFill>
                <a:latin typeface="Arial"/>
              </a:rPr>
              <a:t>wallace.espindola@gmail.com</a:t>
            </a:r>
          </a:p>
          <a:p>
            <a:pPr>
              <a:spcAft>
                <a:spcPts val="400"/>
              </a:spcAft>
            </a:pPr>
            <a:r>
              <a:rPr sz="1800" b="0" i="0">
                <a:solidFill>
                  <a:srgbClr val="FFFFFF"/>
                </a:solidFill>
                <a:latin typeface="Arial"/>
              </a:rPr>
              <a:t>linkedin.com/in/wallaceespindola  |  github.com/wallaceespindola</a:t>
            </a:r>
          </a:p>
          <a:p>
            <a:pPr>
              <a:spcAft>
                <a:spcPts val="400"/>
              </a:spcAft>
            </a:pPr>
          </a:p>
          <a:p>
            <a:pPr>
              <a:spcAft>
                <a:spcPts val="400"/>
              </a:spcAft>
            </a:pPr>
            <a:r>
              <a:rPr sz="2200" b="0" i="0">
                <a:solidFill>
                  <a:srgbClr val="FFFFFF"/>
                </a:solidFill>
                <a:latin typeface="Arial"/>
              </a:rPr>
              <a:t>Thanks!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 Copilot Capacity, Not Accounts</dc:title>
  <dc:subject/>
  <dc:creator>Wallace Espindola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